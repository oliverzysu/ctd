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3581" r:id="rId2"/>
    <p:sldId id="23706" r:id="rId3"/>
    <p:sldId id="23720" r:id="rId4"/>
    <p:sldId id="26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OUJianPing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FF"/>
    <a:srgbClr val="999B9F"/>
    <a:srgbClr val="F0F0F0"/>
    <a:srgbClr val="E7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178" autoAdjust="0"/>
    <p:restoredTop sz="95385" autoAdjust="0"/>
  </p:normalViewPr>
  <p:slideViewPr>
    <p:cSldViewPr snapToGrid="0">
      <p:cViewPr varScale="1">
        <p:scale>
          <a:sx n="83" d="100"/>
          <a:sy n="83" d="100"/>
        </p:scale>
        <p:origin x="2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492A3-4CAC-401D-86E8-D5199A257E6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C47D8-7E8D-4BF7-9522-394B18A62B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9067C-E7B6-4E9A-AEB2-169310A6B6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498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19527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8AC6-CF52-05C5-8B20-0C5E7C7C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0C14E5-DD49-2AED-3EF2-DFFA53503A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E6120-4589-735E-27AF-12035D1212C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0F6EA7C-11B3-5AB9-2E10-5C2326B9B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C8711D9-3972-D71F-73C8-CE5D9D2F3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14608-C7E2-32F1-3FCB-C47E657A24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11814-8814-22A2-B919-E7A2E2000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51780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33A45-1A06-806B-68DD-38B5F0C9A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9C8BF2-896B-B880-E38B-23D9E245B3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0B2B2-B8F2-0E23-BF2B-0D35BE208E6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055A2F2-98E2-90B5-734D-C8645F880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DADCC94-7024-D25B-EA9F-C1F7306A0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fontAlgn="base">
              <a:spcAft>
                <a:spcPts val="1200"/>
              </a:spcAft>
            </a:pPr>
            <a:endParaRPr lang="en-US" altLang="zh-CN" b="0" i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8D844-E979-98B3-B6A2-3203888380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9D064-8675-9407-7394-CAC31F394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9057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Slide Number"/>
          <p:cNvSpPr txBox="1"/>
          <p:nvPr userDrawn="1"/>
        </p:nvSpPr>
        <p:spPr bwMode="gray">
          <a:xfrm>
            <a:off x="11652053" y="6639224"/>
            <a:ext cx="12921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x-none" sz="815" smtClean="0">
                <a:solidFill>
                  <a:schemeClr val="accent6"/>
                </a:solidFill>
              </a:rPr>
              <a:t>‹#›</a:t>
            </a:fld>
            <a:endParaRPr lang="x-none" sz="815" dirty="0">
              <a:solidFill>
                <a:schemeClr val="accent6"/>
              </a:solidFill>
            </a:endParaRPr>
          </a:p>
        </p:txBody>
      </p:sp>
      <p:sp>
        <p:nvSpPr>
          <p:cNvPr id="7" name="doc id" hidden="1"/>
          <p:cNvSpPr>
            <a:spLocks noChangeArrowheads="1"/>
          </p:cNvSpPr>
          <p:nvPr userDrawn="1"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765"/>
            <a:endParaRPr lang="x-none" sz="610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8" name="Slide Number"/>
          <p:cNvSpPr txBox="1"/>
          <p:nvPr userDrawn="1"/>
        </p:nvSpPr>
        <p:spPr bwMode="gray">
          <a:xfrm>
            <a:off x="11652053" y="6639224"/>
            <a:ext cx="12921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x-none" sz="815" smtClean="0">
                <a:solidFill>
                  <a:schemeClr val="accent6"/>
                </a:solidFill>
              </a:rPr>
              <a:t>‹#›</a:t>
            </a:fld>
            <a:endParaRPr lang="x-none" sz="815" dirty="0">
              <a:solidFill>
                <a:schemeClr val="accent6"/>
              </a:solidFill>
            </a:endParaRPr>
          </a:p>
        </p:txBody>
      </p:sp>
      <p:sp>
        <p:nvSpPr>
          <p:cNvPr id="5" name="doc id" hidden="1"/>
          <p:cNvSpPr>
            <a:spLocks noChangeArrowheads="1"/>
          </p:cNvSpPr>
          <p:nvPr userDrawn="1"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765"/>
            <a:endParaRPr lang="x-none" sz="610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l">
              <a:lnSpc>
                <a:spcPct val="92000"/>
              </a:lnSpc>
              <a:defRPr sz="4300" b="0" i="0" u="none" strike="noStrike" spc="0">
                <a:solidFill>
                  <a:srgbClr val="000000">
                    <a:alpha val="100000"/>
                  </a:srgbClr>
                </a:solidFill>
                <a:latin typeface="Calibri Light" panose="020F0302020204030204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300" b="0" i="0" u="none" strike="noStrike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92000"/>
              </a:lnSpc>
              <a:defRPr sz="27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lvl="0" indent="342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7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</a:p>
          <a:p>
            <a:pPr marL="269875" lvl="1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</a:p>
          <a:p>
            <a:pPr marL="539750" lvl="2" indent="2413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9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</a:p>
          <a:p>
            <a:pPr marL="810260" lvl="3" indent="2286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</a:p>
          <a:p>
            <a:pPr marL="1080135" lvl="4" indent="2286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210492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6BE9C-3F15-4027-9AE7-57992A810EE6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7006E4-F4E0-C147-9427-9F75DA365641}"/>
              </a:ext>
            </a:extLst>
          </p:cNvPr>
          <p:cNvSpPr txBox="1"/>
          <p:nvPr/>
        </p:nvSpPr>
        <p:spPr>
          <a:xfrm>
            <a:off x="1187029" y="3650968"/>
            <a:ext cx="8406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ea typeface="Heiti SC Medium" pitchFamily="2" charset="-128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ea typeface="Heiti SC Medium" pitchFamily="2" charset="-128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ea typeface="Heiti SC Medium" pitchFamily="2" charset="-128"/>
              </a:rPr>
              <a:t>Geology Knowledge Engine for Image, Data and Text</a:t>
            </a:r>
            <a:endParaRPr lang="en-CN" sz="2800" dirty="0">
              <a:solidFill>
                <a:schemeClr val="bg1"/>
              </a:solidFill>
              <a:ea typeface="Heiti SC Medium" pitchFamily="2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8A4CB7-4B2B-4B4A-AE8C-FF4BF03BC1BD}"/>
              </a:ext>
            </a:extLst>
          </p:cNvPr>
          <p:cNvSpPr/>
          <p:nvPr/>
        </p:nvSpPr>
        <p:spPr>
          <a:xfrm>
            <a:off x="-365749" y="1373789"/>
            <a:ext cx="11262346" cy="3413760"/>
          </a:xfrm>
          <a:prstGeom prst="rect">
            <a:avLst/>
          </a:prstGeom>
          <a:solidFill>
            <a:srgbClr val="F49A0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A50787-4A69-474F-BAF4-1110E13CA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056" y="1906920"/>
            <a:ext cx="8356030" cy="164852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D2 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科学发现案例：</a:t>
            </a:r>
            <a:b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</a:b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1EDE101B-270F-E34F-BACE-B0C7A65BE7AE}"/>
              </a:ext>
            </a:extLst>
          </p:cNvPr>
          <p:cNvGrpSpPr/>
          <p:nvPr/>
        </p:nvGrpSpPr>
        <p:grpSpPr>
          <a:xfrm>
            <a:off x="254360" y="462731"/>
            <a:ext cx="2759773" cy="720018"/>
            <a:chOff x="224380" y="175252"/>
            <a:chExt cx="2759709" cy="72000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BEE5F5-FCB7-1042-8C4C-0CECB1233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380" y="175252"/>
              <a:ext cx="720001" cy="7200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B0DBFAC-3D31-7E47-A0CF-7F72D2E51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9654" y="306853"/>
              <a:ext cx="1584435" cy="416957"/>
            </a:xfrm>
            <a:prstGeom prst="rect">
              <a:avLst/>
            </a:prstGeom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7C4312AA-7D7F-2F46-8B73-68D21954C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27" y="175252"/>
              <a:ext cx="0" cy="7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平行四邊形 4">
            <a:extLst>
              <a:ext uri="{FF2B5EF4-FFF2-40B4-BE49-F238E27FC236}">
                <a16:creationId xmlns:a16="http://schemas.microsoft.com/office/drawing/2014/main" id="{2601B93B-4649-CA40-A6D2-8FF378D7D429}"/>
              </a:ext>
            </a:extLst>
          </p:cNvPr>
          <p:cNvSpPr/>
          <p:nvPr/>
        </p:nvSpPr>
        <p:spPr>
          <a:xfrm rot="5400000">
            <a:off x="9475917" y="2792282"/>
            <a:ext cx="4934724" cy="2093364"/>
          </a:xfrm>
          <a:custGeom>
            <a:avLst/>
            <a:gdLst>
              <a:gd name="connsiteX0" fmla="*/ 0 w 3944392"/>
              <a:gd name="connsiteY0" fmla="*/ 2168933 h 2168933"/>
              <a:gd name="connsiteX1" fmla="*/ 542233 w 3944392"/>
              <a:gd name="connsiteY1" fmla="*/ 0 h 2168933"/>
              <a:gd name="connsiteX2" fmla="*/ 3944392 w 3944392"/>
              <a:gd name="connsiteY2" fmla="*/ 0 h 2168933"/>
              <a:gd name="connsiteX3" fmla="*/ 3402159 w 3944392"/>
              <a:gd name="connsiteY3" fmla="*/ 2168933 h 2168933"/>
              <a:gd name="connsiteX4" fmla="*/ 0 w 3944392"/>
              <a:gd name="connsiteY4" fmla="*/ 2168933 h 2168933"/>
              <a:gd name="connsiteX0" fmla="*/ 0 w 3944392"/>
              <a:gd name="connsiteY0" fmla="*/ 2168933 h 2168933"/>
              <a:gd name="connsiteX1" fmla="*/ 1245040 w 3944392"/>
              <a:gd name="connsiteY1" fmla="*/ 113356 h 2168933"/>
              <a:gd name="connsiteX2" fmla="*/ 3944392 w 3944392"/>
              <a:gd name="connsiteY2" fmla="*/ 0 h 2168933"/>
              <a:gd name="connsiteX3" fmla="*/ 3402159 w 3944392"/>
              <a:gd name="connsiteY3" fmla="*/ 2168933 h 2168933"/>
              <a:gd name="connsiteX4" fmla="*/ 0 w 3944392"/>
              <a:gd name="connsiteY4" fmla="*/ 2168933 h 2168933"/>
              <a:gd name="connsiteX0" fmla="*/ 0 w 4911695"/>
              <a:gd name="connsiteY0" fmla="*/ 2199162 h 2199162"/>
              <a:gd name="connsiteX1" fmla="*/ 1245040 w 4911695"/>
              <a:gd name="connsiteY1" fmla="*/ 143585 h 2199162"/>
              <a:gd name="connsiteX2" fmla="*/ 4911695 w 4911695"/>
              <a:gd name="connsiteY2" fmla="*/ 0 h 2199162"/>
              <a:gd name="connsiteX3" fmla="*/ 3402159 w 4911695"/>
              <a:gd name="connsiteY3" fmla="*/ 2199162 h 2199162"/>
              <a:gd name="connsiteX4" fmla="*/ 0 w 4911695"/>
              <a:gd name="connsiteY4" fmla="*/ 2199162 h 2199162"/>
              <a:gd name="connsiteX0" fmla="*/ 0 w 4919255"/>
              <a:gd name="connsiteY0" fmla="*/ 2093364 h 2093364"/>
              <a:gd name="connsiteX1" fmla="*/ 1245040 w 4919255"/>
              <a:gd name="connsiteY1" fmla="*/ 37787 h 2093364"/>
              <a:gd name="connsiteX2" fmla="*/ 4919255 w 4919255"/>
              <a:gd name="connsiteY2" fmla="*/ 0 h 2093364"/>
              <a:gd name="connsiteX3" fmla="*/ 3402159 w 4919255"/>
              <a:gd name="connsiteY3" fmla="*/ 2093364 h 2093364"/>
              <a:gd name="connsiteX4" fmla="*/ 0 w 4919255"/>
              <a:gd name="connsiteY4" fmla="*/ 2093364 h 2093364"/>
              <a:gd name="connsiteX0" fmla="*/ 0 w 4919255"/>
              <a:gd name="connsiteY0" fmla="*/ 2093364 h 2093364"/>
              <a:gd name="connsiteX1" fmla="*/ 1671083 w 4919255"/>
              <a:gd name="connsiteY1" fmla="*/ 17909 h 2093364"/>
              <a:gd name="connsiteX2" fmla="*/ 4919255 w 4919255"/>
              <a:gd name="connsiteY2" fmla="*/ 0 h 2093364"/>
              <a:gd name="connsiteX3" fmla="*/ 3402159 w 4919255"/>
              <a:gd name="connsiteY3" fmla="*/ 2093364 h 2093364"/>
              <a:gd name="connsiteX4" fmla="*/ 0 w 4919255"/>
              <a:gd name="connsiteY4" fmla="*/ 2093364 h 209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19255" h="2093364">
                <a:moveTo>
                  <a:pt x="0" y="2093364"/>
                </a:moveTo>
                <a:lnTo>
                  <a:pt x="1671083" y="17909"/>
                </a:lnTo>
                <a:lnTo>
                  <a:pt x="4919255" y="0"/>
                </a:lnTo>
                <a:lnTo>
                  <a:pt x="3402159" y="2093364"/>
                </a:lnTo>
                <a:lnTo>
                  <a:pt x="0" y="2093364"/>
                </a:lnTo>
                <a:close/>
              </a:path>
            </a:pathLst>
          </a:custGeom>
          <a:solidFill>
            <a:srgbClr val="FABB00">
              <a:alpha val="77647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8DFC198-68EF-72EA-AD34-24224D23AAC6}"/>
              </a:ext>
            </a:extLst>
          </p:cNvPr>
          <p:cNvSpPr/>
          <p:nvPr/>
        </p:nvSpPr>
        <p:spPr>
          <a:xfrm>
            <a:off x="3943568" y="4965142"/>
            <a:ext cx="2858863" cy="17421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环境</a:t>
            </a:r>
            <a:endParaRPr kumimoji="1" lang="en-US" altLang="zh-CN" b="1" dirty="0"/>
          </a:p>
          <a:p>
            <a:pPr algn="ctr"/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（金梦 郑冠杰）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endParaRPr kumimoji="1" lang="en-US" altLang="zh-CN" dirty="0"/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分子网络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（健平）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污染物疾病</a:t>
            </a:r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曾博义</a:t>
            </a:r>
            <a:r>
              <a:rPr kumimoji="1" lang="zh-CN" altLang="en-US" sz="1400" dirty="0"/>
              <a:t>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方法生成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（苏梓阳，黄哲睿）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59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/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/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-12700" y="219566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05716" y="216222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zh-CN" altLang="en-US" sz="3100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污染物</a:t>
            </a:r>
            <a:r>
              <a:rPr lang="zh-CN" altLang="en-US" sz="31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分子网络预测</a:t>
            </a:r>
            <a:r>
              <a:rPr lang="zh-CN" altLang="en-US" sz="3100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（周健平）</a:t>
            </a:r>
            <a:endParaRPr lang="en-US" sz="11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B17396-F3AF-86A0-B20F-BF7BB4CE9B7C}"/>
              </a:ext>
            </a:extLst>
          </p:cNvPr>
          <p:cNvSpPr/>
          <p:nvPr/>
        </p:nvSpPr>
        <p:spPr>
          <a:xfrm>
            <a:off x="241298" y="1252558"/>
            <a:ext cx="10024026" cy="499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F6757C-C21E-43EA-8679-1411AC8A9FDB}"/>
              </a:ext>
            </a:extLst>
          </p:cNvPr>
          <p:cNvSpPr txBox="1"/>
          <p:nvPr/>
        </p:nvSpPr>
        <p:spPr>
          <a:xfrm>
            <a:off x="199760" y="1218362"/>
            <a:ext cx="1012357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本周增量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：本周整理和汇总了数据库网站的介绍与数据量，准备设计网站整体项目介绍页</a:t>
            </a:r>
            <a:endParaRPr kumimoji="1" lang="e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4" name="表格 16">
            <a:extLst>
              <a:ext uri="{FF2B5EF4-FFF2-40B4-BE49-F238E27FC236}">
                <a16:creationId xmlns:a16="http://schemas.microsoft.com/office/drawing/2014/main" id="{9E84E031-3A4A-6DE2-5D5B-10D58FDF8654}"/>
              </a:ext>
            </a:extLst>
          </p:cNvPr>
          <p:cNvGraphicFramePr>
            <a:graphicFrameLocks noGrp="1"/>
          </p:cNvGraphicFramePr>
          <p:nvPr/>
        </p:nvGraphicFramePr>
        <p:xfrm>
          <a:off x="10477784" y="875480"/>
          <a:ext cx="15689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470">
                  <a:extLst>
                    <a:ext uri="{9D8B030D-6E8A-4147-A177-3AD203B41FA5}">
                      <a16:colId xmlns:a16="http://schemas.microsoft.com/office/drawing/2014/main" val="1243722429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365888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新任务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√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4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15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新调研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2803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7F22CEAA-CF9F-955A-9A5B-DA7A47AA80AC}"/>
              </a:ext>
            </a:extLst>
          </p:cNvPr>
          <p:cNvSpPr txBox="1"/>
          <p:nvPr/>
        </p:nvSpPr>
        <p:spPr>
          <a:xfrm>
            <a:off x="183285" y="6488668"/>
            <a:ext cx="7762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下周计划：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与工程师对接系统开发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A2C79C-96A4-7D83-B57A-9C3AC0B398CD}"/>
              </a:ext>
            </a:extLst>
          </p:cNvPr>
          <p:cNvSpPr txBox="1"/>
          <p:nvPr/>
        </p:nvSpPr>
        <p:spPr>
          <a:xfrm>
            <a:off x="183285" y="1857750"/>
            <a:ext cx="70012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网站：https://epdb.acemap.cn/</a:t>
            </a:r>
          </a:p>
          <a:p>
            <a:r>
              <a:rPr lang="zh-CN" altLang="en-US" dirty="0"/>
              <a:t>1️⃣分子网络预测</a:t>
            </a:r>
          </a:p>
          <a:p>
            <a:r>
              <a:rPr lang="zh-CN" altLang="en-US" dirty="0"/>
              <a:t>数据量：376521个谱图，60235个SMILES</a:t>
            </a:r>
          </a:p>
          <a:p>
            <a:r>
              <a:rPr lang="zh-CN" altLang="en-US" dirty="0"/>
              <a:t>网站功能：输入谱图数据文件、已知分子结构的种子节点文件、分子网络文件以及用户设定相关参数，输出未知结构谱图的预测结果</a:t>
            </a:r>
          </a:p>
          <a:p>
            <a:endParaRPr lang="zh-CN" altLang="en-US" dirty="0"/>
          </a:p>
          <a:p>
            <a:r>
              <a:rPr lang="zh-CN" altLang="en-US" dirty="0"/>
              <a:t>2️⃣研究方法预测</a:t>
            </a:r>
          </a:p>
          <a:p>
            <a:r>
              <a:rPr lang="zh-CN" altLang="en-US" dirty="0"/>
              <a:t>数据量：污染物11826，方法32474</a:t>
            </a:r>
          </a:p>
          <a:p>
            <a:r>
              <a:rPr lang="zh-CN" altLang="en-US" dirty="0"/>
              <a:t>网站功能：输入污染物的分子描述符，输出该污染物对应的预测的处理方法</a:t>
            </a:r>
          </a:p>
          <a:p>
            <a:endParaRPr lang="zh-CN" altLang="en-US" dirty="0"/>
          </a:p>
          <a:p>
            <a:r>
              <a:rPr lang="zh-CN" altLang="en-US" dirty="0"/>
              <a:t>3️⃣污染物-疾病关系预测</a:t>
            </a:r>
          </a:p>
          <a:p>
            <a:r>
              <a:rPr lang="zh-CN" altLang="en-US" dirty="0"/>
              <a:t>数据量：3125条从文献抽取的疾病污染物关系，954万条从CTD数据库获取的化合物疾病关系</a:t>
            </a:r>
          </a:p>
          <a:p>
            <a:r>
              <a:rPr lang="zh-CN" altLang="en-US" dirty="0"/>
              <a:t>网站功能：基于已有的关系数据，使用GNN等神经网络方法预测并揭示潜在的、新的污染物与疾病之间的关联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93311B2B-1D2E-9136-FDC3-7B48C5CDE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4514" y="3875942"/>
            <a:ext cx="4380970" cy="256165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DC818E3E-D8AD-38B6-9720-64C20E352066}"/>
              </a:ext>
            </a:extLst>
          </p:cNvPr>
          <p:cNvSpPr txBox="1"/>
          <p:nvPr/>
        </p:nvSpPr>
        <p:spPr>
          <a:xfrm>
            <a:off x="10826667" y="3736675"/>
            <a:ext cx="84881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About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D187108-FDC1-C2B0-5876-D9469AA913BA}"/>
              </a:ext>
            </a:extLst>
          </p:cNvPr>
          <p:cNvSpPr txBox="1"/>
          <p:nvPr/>
        </p:nvSpPr>
        <p:spPr>
          <a:xfrm>
            <a:off x="7885483" y="2658892"/>
            <a:ext cx="3790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主页添加</a:t>
            </a:r>
            <a:r>
              <a:rPr lang="en-US" altLang="zh-CN" dirty="0"/>
              <a:t>About</a:t>
            </a:r>
            <a:r>
              <a:rPr lang="zh-CN" altLang="en-US" dirty="0"/>
              <a:t>子页面，详细介绍网站功能与数据量等信息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688C95F-5529-9891-B69E-855037A8A86B}"/>
              </a:ext>
            </a:extLst>
          </p:cNvPr>
          <p:cNvCxnSpPr>
            <a:stCxn id="21" idx="0"/>
            <a:endCxn id="22" idx="2"/>
          </p:cNvCxnSpPr>
          <p:nvPr/>
        </p:nvCxnSpPr>
        <p:spPr>
          <a:xfrm flipH="1" flipV="1">
            <a:off x="9780484" y="3305223"/>
            <a:ext cx="1470592" cy="4314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10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872C-A697-E108-11BD-DD786D86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702DC84-A2C5-8F5B-6239-B025DE10D165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DB04D50-A08D-755B-46E3-055A5B1028C1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3FAC5586-E10E-9E65-9EEA-A35A9170D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5F0C2C06-E8A5-E583-B44A-E23AE5241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DC74718E-31F7-9B9A-EF52-A887A0910D54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B268B44B-E1CE-F6BB-029D-425280D8E90C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62F55FF8-0E84-FC4F-F0ED-E782A23B9FC1}"/>
              </a:ext>
            </a:extLst>
          </p:cNvPr>
          <p:cNvSpPr/>
          <p:nvPr/>
        </p:nvSpPr>
        <p:spPr>
          <a:xfrm>
            <a:off x="-12700" y="191127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CC286E9E-DC33-3F00-4B1D-833F87C7C5BC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E4FBAE1-0F40-64B5-1201-1ACA8BF470DC}"/>
              </a:ext>
            </a:extLst>
          </p:cNvPr>
          <p:cNvSpPr/>
          <p:nvPr/>
        </p:nvSpPr>
        <p:spPr>
          <a:xfrm>
            <a:off x="193804" y="26556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33D843-5DDD-1B37-1A03-17EF3CECEB75}"/>
              </a:ext>
            </a:extLst>
          </p:cNvPr>
          <p:cNvSpPr/>
          <p:nvPr/>
        </p:nvSpPr>
        <p:spPr>
          <a:xfrm>
            <a:off x="205715" y="1205188"/>
            <a:ext cx="9510141" cy="717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4F1FD3-085D-DB89-8F63-CA2965A6A5E5}"/>
              </a:ext>
            </a:extLst>
          </p:cNvPr>
          <p:cNvSpPr txBox="1"/>
          <p:nvPr/>
        </p:nvSpPr>
        <p:spPr>
          <a:xfrm>
            <a:off x="187848" y="1281653"/>
            <a:ext cx="1007747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本周增量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：统计疾病污染物数据库数据量并写介绍，写需求文档和工程师对接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5AA8A28-7BD1-52E5-F494-59599B07C063}"/>
              </a:ext>
            </a:extLst>
          </p:cNvPr>
          <p:cNvSpPr txBox="1"/>
          <p:nvPr/>
        </p:nvSpPr>
        <p:spPr>
          <a:xfrm>
            <a:off x="-12700" y="6396903"/>
            <a:ext cx="972855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下周计划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：对接推进疾病污染物系统建设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2" name="表格 16">
            <a:extLst>
              <a:ext uri="{FF2B5EF4-FFF2-40B4-BE49-F238E27FC236}">
                <a16:creationId xmlns:a16="http://schemas.microsoft.com/office/drawing/2014/main" id="{31B18509-B243-6EDE-141C-0C7E97A38B22}"/>
              </a:ext>
            </a:extLst>
          </p:cNvPr>
          <p:cNvGraphicFramePr>
            <a:graphicFrameLocks noGrp="1"/>
          </p:cNvGraphicFramePr>
          <p:nvPr/>
        </p:nvGraphicFramePr>
        <p:xfrm>
          <a:off x="10417331" y="984174"/>
          <a:ext cx="15689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470">
                  <a:extLst>
                    <a:ext uri="{9D8B030D-6E8A-4147-A177-3AD203B41FA5}">
                      <a16:colId xmlns:a16="http://schemas.microsoft.com/office/drawing/2014/main" val="1243722429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365888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4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5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新调研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2803"/>
                  </a:ext>
                </a:extLst>
              </a:tr>
            </a:tbl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A6377D7F-9357-8B62-654C-F2663C97A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785" y="2032182"/>
            <a:ext cx="5348207" cy="470770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5FDB0EB-2CD7-0A8C-AA71-7D85440D23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848" y="3174778"/>
            <a:ext cx="4551910" cy="213225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87AAE10-EF19-F357-742D-D39538F81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848" y="5021671"/>
            <a:ext cx="4551910" cy="1304153"/>
          </a:xfrm>
          <a:prstGeom prst="rect">
            <a:avLst/>
          </a:prstGeom>
        </p:spPr>
      </p:pic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DA473FC-A0F2-5494-1C19-7E75AB1A9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457245"/>
              </p:ext>
            </p:extLst>
          </p:nvPr>
        </p:nvGraphicFramePr>
        <p:xfrm>
          <a:off x="199760" y="2060056"/>
          <a:ext cx="4539998" cy="952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999">
                  <a:extLst>
                    <a:ext uri="{9D8B030D-6E8A-4147-A177-3AD203B41FA5}">
                      <a16:colId xmlns:a16="http://schemas.microsoft.com/office/drawing/2014/main" val="4231558664"/>
                    </a:ext>
                  </a:extLst>
                </a:gridCol>
                <a:gridCol w="2269999">
                  <a:extLst>
                    <a:ext uri="{9D8B030D-6E8A-4147-A177-3AD203B41FA5}">
                      <a16:colId xmlns:a16="http://schemas.microsoft.com/office/drawing/2014/main" val="1189958706"/>
                    </a:ext>
                  </a:extLst>
                </a:gridCol>
              </a:tblGrid>
              <a:tr h="476074">
                <a:tc>
                  <a:txBody>
                    <a:bodyPr/>
                    <a:lstStyle/>
                    <a:p>
                      <a:r>
                        <a:rPr lang="en-US" altLang="zh-CN" dirty="0"/>
                        <a:t>CTD </a:t>
                      </a:r>
                      <a:r>
                        <a:rPr lang="zh-CN" altLang="en-US" dirty="0"/>
                        <a:t>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3125 </a:t>
                      </a:r>
                      <a:r>
                        <a:rPr lang="zh-CN" altLang="en-US" dirty="0"/>
                        <a:t>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727988"/>
                  </a:ext>
                </a:extLst>
              </a:tr>
              <a:tr h="476074">
                <a:tc>
                  <a:txBody>
                    <a:bodyPr/>
                    <a:lstStyle/>
                    <a:p>
                      <a:r>
                        <a:rPr lang="zh-CN" altLang="en-US" dirty="0"/>
                        <a:t>疾病污染物数据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9546982</a:t>
                      </a:r>
                      <a:r>
                        <a:rPr lang="zh-CN" altLang="en-US" dirty="0"/>
                        <a:t> 条</a:t>
                      </a:r>
                      <a:endParaRPr lang="en-US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275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21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489C9-55FD-62DC-975A-8D0029D4F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4388AFE-FB1C-AF05-0BC0-F2507FCA57E2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575B93E-915C-36EE-65B8-32BD0E8F7CE8}"/>
              </a:ext>
            </a:extLst>
          </p:cNvPr>
          <p:cNvGrpSpPr/>
          <p:nvPr/>
        </p:nvGrpSpPr>
        <p:grpSpPr>
          <a:xfrm>
            <a:off x="10367753" y="321157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76FC8CD2-AC78-3717-61AB-995112DD1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121C7572-62A6-1A8F-7AE8-D2C42BEEA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7679715D-12A9-8492-FDDA-38C56685A0EC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5A860132-1090-986F-AD4F-1874FD80F6FE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637C0184-DD75-33B7-5160-61043572DB8A}"/>
              </a:ext>
            </a:extLst>
          </p:cNvPr>
          <p:cNvSpPr/>
          <p:nvPr/>
        </p:nvSpPr>
        <p:spPr>
          <a:xfrm>
            <a:off x="-12700" y="219566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1FE19D3A-0376-59A9-8055-2D14FABB6B21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7DB5D504-A5F9-520A-E237-2379C9095216}"/>
              </a:ext>
            </a:extLst>
          </p:cNvPr>
          <p:cNvSpPr/>
          <p:nvPr/>
        </p:nvSpPr>
        <p:spPr>
          <a:xfrm>
            <a:off x="205716" y="216222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3100" b="1" i="0" u="none" strike="noStrike" dirty="0" err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污染物处理方法预测</a:t>
            </a:r>
            <a:r>
              <a:rPr lang="en-US" sz="3100" b="1" dirty="0" err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模块</a:t>
            </a:r>
            <a:r>
              <a:rPr lang="zh-CN" altLang="en-US" sz="3100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（苏梓阳）</a:t>
            </a:r>
            <a:endParaRPr lang="en-US" sz="11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684252-5C32-2FB4-A81C-9D6E40E0DFE0}"/>
              </a:ext>
            </a:extLst>
          </p:cNvPr>
          <p:cNvSpPr/>
          <p:nvPr/>
        </p:nvSpPr>
        <p:spPr>
          <a:xfrm>
            <a:off x="241298" y="1319344"/>
            <a:ext cx="10024026" cy="6015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2D987F-529B-9CAA-0E04-6C9B239A2611}"/>
              </a:ext>
            </a:extLst>
          </p:cNvPr>
          <p:cNvSpPr txBox="1"/>
          <p:nvPr/>
        </p:nvSpPr>
        <p:spPr>
          <a:xfrm>
            <a:off x="336548" y="1330348"/>
            <a:ext cx="983352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本周增量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：总结故事线，准备投稿计划，准备论文用图。</a:t>
            </a:r>
          </a:p>
        </p:txBody>
      </p:sp>
      <p:graphicFrame>
        <p:nvGraphicFramePr>
          <p:cNvPr id="16" name="表格 16">
            <a:extLst>
              <a:ext uri="{FF2B5EF4-FFF2-40B4-BE49-F238E27FC236}">
                <a16:creationId xmlns:a16="http://schemas.microsoft.com/office/drawing/2014/main" id="{79691C93-4085-EE0D-39A5-D4C2905A70A4}"/>
              </a:ext>
            </a:extLst>
          </p:cNvPr>
          <p:cNvGraphicFramePr>
            <a:graphicFrameLocks noGrp="1"/>
          </p:cNvGraphicFramePr>
          <p:nvPr/>
        </p:nvGraphicFramePr>
        <p:xfrm>
          <a:off x="10416023" y="856857"/>
          <a:ext cx="15689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470">
                  <a:extLst>
                    <a:ext uri="{9D8B030D-6E8A-4147-A177-3AD203B41FA5}">
                      <a16:colId xmlns:a16="http://schemas.microsoft.com/office/drawing/2014/main" val="1243722429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365888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4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15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新调研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2803"/>
                  </a:ext>
                </a:extLst>
              </a:tr>
            </a:tbl>
          </a:graphicData>
        </a:graphic>
      </p:graphicFrame>
      <p:sp>
        <p:nvSpPr>
          <p:cNvPr id="17" name="Rectangle 1">
            <a:extLst>
              <a:ext uri="{FF2B5EF4-FFF2-40B4-BE49-F238E27FC236}">
                <a16:creationId xmlns:a16="http://schemas.microsoft.com/office/drawing/2014/main" id="{35EDFF1E-067B-B2E9-7A19-996D914E8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7962" y="300719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5E104C4-384D-FC0A-265B-20CF01D1F662}"/>
              </a:ext>
            </a:extLst>
          </p:cNvPr>
          <p:cNvSpPr txBox="1"/>
          <p:nvPr/>
        </p:nvSpPr>
        <p:spPr>
          <a:xfrm>
            <a:off x="112772" y="6358440"/>
            <a:ext cx="8882803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下周计划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：与环境学院对接。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3D35842-C48B-7C96-2B74-4FF0DD9EE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48" y="2245033"/>
            <a:ext cx="7369317" cy="402248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E6836B5-5DD6-A886-686F-C5B5835AA7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0718"/>
          <a:stretch>
            <a:fillRect/>
          </a:stretch>
        </p:blipFill>
        <p:spPr>
          <a:xfrm>
            <a:off x="8007895" y="2893233"/>
            <a:ext cx="3977082" cy="324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43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108881</TotalTime>
  <Words>353</Words>
  <Application>Microsoft Macintosh PowerPoint</Application>
  <PresentationFormat>宽屏</PresentationFormat>
  <Paragraphs>59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等线</vt:lpstr>
      <vt:lpstr>KaiTi</vt:lpstr>
      <vt:lpstr>Microsoft YaHei</vt:lpstr>
      <vt:lpstr>Microsoft YaHei</vt:lpstr>
      <vt:lpstr>Heiti SC Medium</vt:lpstr>
      <vt:lpstr>Noto Sans SC</vt:lpstr>
      <vt:lpstr>PingFang SC</vt:lpstr>
      <vt:lpstr>Arial</vt:lpstr>
      <vt:lpstr>Calibri</vt:lpstr>
      <vt:lpstr>Calibri Light</vt:lpstr>
      <vt:lpstr>Wingdings</vt:lpstr>
      <vt:lpstr>Office Theme</vt:lpstr>
      <vt:lpstr>D2 科学发现案例： 环境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Jianping</dc:creator>
  <cp:lastModifiedBy>boyi zeng</cp:lastModifiedBy>
  <cp:revision>404</cp:revision>
  <dcterms:created xsi:type="dcterms:W3CDTF">2023-03-25T09:40:31Z</dcterms:created>
  <dcterms:modified xsi:type="dcterms:W3CDTF">2026-03-08T12:45:32Z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90960556C8214E0CEF62F9636144A168</vt:lpwstr>
  </property>
  <property fmtid="{D5CDD505-2E9C-101B-9397-08002B2CF9AE}" pid="3" name="KSOProductBuildVer">
    <vt:lpwstr>2052-5.2.1.7798</vt:lpwstr>
  </property>
  <property fmtid="{D5CDD505-2E9C-101B-9397-08002B2CF9AE}" pid="4" name="CWM8917e430c7ad11f1b3b4e5b933b4e5b9">
    <vt:lpwstr>CWMiry79zjke+ZSGBWWy30sRRGx9+mbKECkD3EAUvxLKFMvV5Ksgc/GbpwXsR302B/GEwT9vBOIuoj1xNX6AMakeQ==</vt:lpwstr>
  </property>
</Properties>
</file>