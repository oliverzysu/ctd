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328"/>
  </p:normalViewPr>
  <p:slideViewPr>
    <p:cSldViewPr snapToGrid="0" snapToObjects="1">
      <p:cViewPr varScale="1">
        <p:scale>
          <a:sx n="108" d="100"/>
          <a:sy n="108" d="100"/>
        </p:scale>
        <p:origin x="25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743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0012680" cy="76809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46304" cy="76809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0896" y="91440"/>
            <a:ext cx="9509760" cy="768096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污染物数据库（曾博义）</a:t>
            </a:r>
          </a:p>
        </p:txBody>
      </p:sp>
      <p:pic>
        <p:nvPicPr>
          <p:cNvPr id="6" name="Picture 5" descr="logo_sjt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46304"/>
            <a:ext cx="566928" cy="566928"/>
          </a:xfrm>
          <a:prstGeom prst="rect">
            <a:avLst/>
          </a:prstGeom>
        </p:spPr>
      </p:pic>
      <p:pic>
        <p:nvPicPr>
          <p:cNvPr id="7" name="Picture 6" descr="logo_ac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274320"/>
            <a:ext cx="1051560" cy="2767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442448" y="932688"/>
          <a:ext cx="1554480" cy="1191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200" b="0" a:lang="zh-CN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</a:rPr>
                        <a:t>新任务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 a:lang="zh-CN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</a:rPr>
                        <a:t>新功能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1" a:lang="zh-CN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</a:rPr>
                        <a:t>新指标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a:lang="zh-CN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 a:lang="zh-CN">
                          <a:solidFill>
                            <a:srgbClr val="20242E"/>
                          </a:solidFill>
                          <a:latin typeface="Microsoft YaHei"/>
                          <a:ea typeface="Microsoft YaHei"/>
                        </a:rPr>
                        <a:t>新调研</a:t>
                      </a: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38100" marR="38100" marT="12700" marB="12700" anchor="ctr">
                    <a:lnL w="9525" cap="flat" cmpd="sng" algn="ctr">
                      <a:solidFill>
                        <a:srgbClr val="808080"/>
                      </a:solidFill>
                    </a:lnL>
                    <a:lnR w="9525" cap="flat" cmpd="sng" algn="ctr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</a:lnT>
                    <a:lnB w="9525" cap="flat" cmpd="sng" algn="ctr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82880" y="932688"/>
            <a:ext cx="10104120" cy="7315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200" y="841243"/>
            <a:ext cx="9966960" cy="6052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a:lang="zh-CN">
                <a:solidFill>
                  <a:srgbClr val="C00000"/>
                </a:solidFill>
                <a:latin typeface="Microsoft YaHei"/>
                <a:ea typeface="Microsoft YaHei"/>
              </a:rPr>
              <a:t>本周增量：</a:t>
            </a:r>
            <a:r>
              <a:rPr sz="1500" b="0" a:lang="zh-CN">
                <a:solidFill>
                  <a:srgbClr val="20242E"/>
                </a:solidFill>
                <a:latin typeface="Microsoft YaHei"/>
                <a:ea typeface="Microsoft YaHei"/>
              </a:rPr>
              <a:t>完成 top-1000 预测的机制链初筛；639 条可映射，128 条有共享基因（20.0%）</a:t>
            </a:r>
            <a:endParaRPr b="0" i="0" dirty="0">
              <a:solidFill>
                <a:srgbClr val="20242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1168" y="6407490"/>
            <a:ext cx="11795760" cy="297517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a:lang="zh-CN">
                <a:solidFill>
                  <a:srgbClr val="C00000"/>
                </a:solidFill>
                <a:latin typeface="Microsoft YaHei"/>
                <a:ea typeface="Microsoft YaHei"/>
              </a:rPr>
              <a:t>下周计划：</a:t>
            </a:r>
            <a:r>
              <a:rPr sz="1550" b="0" a:lang="zh-CN">
                <a:solidFill>
                  <a:srgbClr val="20242E"/>
                </a:solidFill>
                <a:latin typeface="Microsoft YaHei"/>
                <a:ea typeface="Microsoft YaHei"/>
              </a:rPr>
              <a:t>按疾病节点度分层重排，并扩展 CTD inferred 关系复核支持率</a:t>
            </a:r>
            <a:endParaRPr sz="1600" b="0" i="0" dirty="0">
              <a:solidFill>
                <a:srgbClr val="20242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3504" y="2231136"/>
            <a:ext cx="5532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a:lang="zh-CN">
                <a:solidFill>
                  <a:srgbClr val="20242E"/>
                </a:solidFill>
                <a:latin typeface="Microsoft YaHei"/>
                <a:ea typeface="Microsoft YaHei"/>
              </a:rPr>
              <a:t>1. 机制链初筛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2633472"/>
            <a:ext cx="5477256" cy="25603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77977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a:lang="zh-CN">
                <a:solidFill>
                  <a:srgbClr val="20242E"/>
                </a:solidFill>
                <a:latin typeface="Microsoft YaHei"/>
                <a:ea typeface="Microsoft YaHei"/>
              </a:rPr>
              <a:t>Top-1000：</a:t>
            </a:r>
            <a:r>
              <a:rPr sz="1600" b="1" a:lang="zh-CN">
                <a:solidFill>
                  <a:srgbClr val="1B7A6E"/>
                </a:solidFill>
                <a:latin typeface="Microsoft YaHei"/>
                <a:ea typeface="Microsoft YaHei"/>
              </a:rPr>
              <a:t>128 / 639</a:t>
            </a:r>
            <a:r>
              <a:rPr sz="1600" b="1" a:lang="zh-CN">
                <a:solidFill>
                  <a:srgbClr val="20242E"/>
                </a:solidFill>
                <a:latin typeface="Microsoft YaHei"/>
                <a:ea typeface="Microsoft YaHei"/>
              </a:rPr>
              <a:t> = 20.0%</a:t>
            </a:r>
            <a:r>
              <a:rPr sz="1600" b="0" a:lang="zh-CN">
                <a:solidFill>
                  <a:srgbClr val="20242E"/>
                </a:solidFill>
                <a:latin typeface="Microsoft YaHei"/>
                <a:ea typeface="Microsoft YaHei"/>
              </a:rPr>
              <a:t> 可映射预测有共享基因</a:t>
            </a:r>
          </a:p>
        </p:txBody>
      </p:sp>
      <p:pic>
        <p:nvPicPr>
          <p:cNvPr id="23" name="Picture 22" descr="mechanism_support_08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218688"/>
            <a:ext cx="5504688" cy="16428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5488" y="5212080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a:lang="zh-CN">
                <a:solidFill>
                  <a:srgbClr val="7A8087"/>
                </a:solidFill>
                <a:latin typeface="Microsoft YaHei"/>
                <a:ea typeface="Microsoft YaHei"/>
              </a:rPr>
              <a:t>口径：Homo sapiens 化学–基因 + CTD curated 基因–疾病；共享 ≥1 基因计为支持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231136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a:lang="zh-CN">
                <a:solidFill>
                  <a:srgbClr val="20242E"/>
                </a:solidFill>
                <a:latin typeface="Microsoft YaHei"/>
                <a:ea typeface="Microsoft YaHei"/>
              </a:rPr>
              <a:t>2. 代表性链路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2633472"/>
            <a:ext cx="5276088" cy="25603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779776"/>
            <a:ext cx="5138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a:lang="zh-CN">
                <a:solidFill>
                  <a:srgbClr val="20242E"/>
                </a:solidFill>
                <a:latin typeface="Microsoft YaHei"/>
                <a:ea typeface="Microsoft YaHei"/>
              </a:rPr>
              <a:t>高分预测中可被基因关系连接的例子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236976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a:lang="zh-CN">
                <a:solidFill>
                  <a:srgbClr val="7A8087"/>
                </a:solidFill>
                <a:latin typeface="Microsoft YaHei"/>
                <a:ea typeface="Microsoft YaHei"/>
              </a:rPr>
              <a:t>#24  0.995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5472" y="3127248"/>
            <a:ext cx="1298448" cy="566928"/>
          </a:xfrm>
          <a:prstGeom prst="roundRect">
            <a:avLst/>
          </a:prstGeom>
          <a:solidFill>
            <a:srgbClr val="FFF3D0"/>
          </a:solidFill>
          <a:ln w="762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6912" y="3200400"/>
            <a:ext cx="1115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a:lang="zh-CN">
                <a:solidFill>
                  <a:srgbClr val="20242E"/>
                </a:solidFill>
                <a:latin typeface="Microsoft YaHei"/>
                <a:ea typeface="Microsoft YaHei"/>
              </a:rPr>
              <a:t>vacuolin-1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32369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a:lang="zh-CN">
                <a:solidFill>
                  <a:srgbClr val="2C6E9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14816" y="3127248"/>
            <a:ext cx="713232" cy="566928"/>
          </a:xfrm>
          <a:prstGeom prst="roundRect">
            <a:avLst/>
          </a:prstGeom>
          <a:solidFill>
            <a:srgbClr val="EAF2F7"/>
          </a:solidFill>
          <a:ln w="762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51392" y="32552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a:lang="zh-CN">
                <a:solidFill>
                  <a:srgbClr val="2C6E9B"/>
                </a:solidFill>
                <a:latin typeface="Microsoft YaHei"/>
                <a:ea typeface="Microsoft YaHei"/>
              </a:rPr>
              <a:t>PIKFYVE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7192" y="32369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a:lang="zh-CN">
                <a:solidFill>
                  <a:srgbClr val="1B7A6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11512" y="3127248"/>
            <a:ext cx="1874519" cy="566928"/>
          </a:xfrm>
          <a:prstGeom prst="roundRect">
            <a:avLst/>
          </a:prstGeom>
          <a:solidFill>
            <a:srgbClr val="E8F2F0"/>
          </a:solidFill>
          <a:ln w="762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2952" y="3191256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a:lang="zh-CN">
                <a:solidFill>
                  <a:srgbClr val="20242E"/>
                </a:solidFill>
                <a:latin typeface="Microsoft YaHei"/>
                <a:ea typeface="Microsoft YaHei"/>
              </a:rPr>
              <a:t>Corneal Dystrophy, Fleck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986784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a:lang="zh-CN">
                <a:solidFill>
                  <a:srgbClr val="7A8087"/>
                </a:solidFill>
                <a:latin typeface="Microsoft YaHei"/>
                <a:ea typeface="Microsoft YaHei"/>
              </a:rPr>
              <a:t>#148  0.991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5472" y="3877056"/>
            <a:ext cx="1298448" cy="566928"/>
          </a:xfrm>
          <a:prstGeom prst="roundRect">
            <a:avLst/>
          </a:prstGeom>
          <a:solidFill>
            <a:srgbClr val="FFF3D0"/>
          </a:solidFill>
          <a:ln w="762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6912" y="3950208"/>
            <a:ext cx="1115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a:lang="zh-CN">
                <a:solidFill>
                  <a:srgbClr val="20242E"/>
                </a:solidFill>
                <a:latin typeface="Microsoft YaHei"/>
                <a:ea typeface="Microsoft YaHei"/>
              </a:rPr>
              <a:t>Uranium Compounds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39867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a:lang="zh-CN">
                <a:solidFill>
                  <a:srgbClr val="2C6E9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14816" y="3877056"/>
            <a:ext cx="713232" cy="566928"/>
          </a:xfrm>
          <a:prstGeom prst="roundRect">
            <a:avLst/>
          </a:prstGeom>
          <a:solidFill>
            <a:srgbClr val="EAF2F7"/>
          </a:solidFill>
          <a:ln w="762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51392" y="40050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a:lang="zh-CN">
                <a:solidFill>
                  <a:srgbClr val="2C6E9B"/>
                </a:solidFill>
                <a:latin typeface="Microsoft YaHei"/>
                <a:ea typeface="Microsoft YaHei"/>
              </a:rPr>
              <a:t>SRY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37192" y="398678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a:lang="zh-CN">
                <a:solidFill>
                  <a:srgbClr val="1B7A6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11512" y="3877056"/>
            <a:ext cx="1874519" cy="566928"/>
          </a:xfrm>
          <a:prstGeom prst="roundRect">
            <a:avLst/>
          </a:prstGeom>
          <a:solidFill>
            <a:srgbClr val="E8F2F0"/>
          </a:solidFill>
          <a:ln w="762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02952" y="394106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a:lang="zh-CN">
                <a:solidFill>
                  <a:srgbClr val="20242E"/>
                </a:solidFill>
                <a:latin typeface="Microsoft YaHei"/>
                <a:ea typeface="Microsoft YaHei"/>
              </a:rPr>
              <a:t>46,XY SEX REVERSAL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736592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a:lang="zh-CN">
                <a:solidFill>
                  <a:srgbClr val="7A8087"/>
                </a:solidFill>
                <a:latin typeface="Microsoft YaHei"/>
                <a:ea typeface="Microsoft YaHei"/>
              </a:rPr>
              <a:t>#177  0.991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05472" y="4626864"/>
            <a:ext cx="1298448" cy="566928"/>
          </a:xfrm>
          <a:prstGeom prst="roundRect">
            <a:avLst/>
          </a:prstGeom>
          <a:solidFill>
            <a:srgbClr val="FFF3D0"/>
          </a:solidFill>
          <a:ln w="762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6912" y="4700016"/>
            <a:ext cx="1115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1" a:lang="zh-CN">
                <a:solidFill>
                  <a:srgbClr val="20242E"/>
                </a:solidFill>
                <a:latin typeface="Microsoft YaHei"/>
                <a:ea typeface="Microsoft YaHei"/>
              </a:rPr>
              <a:t>Strontium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0496" y="47365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a:lang="zh-CN">
                <a:solidFill>
                  <a:srgbClr val="2C6E9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14816" y="4626864"/>
            <a:ext cx="713232" cy="566928"/>
          </a:xfrm>
          <a:prstGeom prst="roundRect">
            <a:avLst/>
          </a:prstGeom>
          <a:solidFill>
            <a:srgbClr val="EAF2F7"/>
          </a:solidFill>
          <a:ln w="7620">
            <a:solidFill>
              <a:srgbClr val="2C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51392" y="475487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a:lang="zh-CN">
                <a:solidFill>
                  <a:srgbClr val="2C6E9B"/>
                </a:solidFill>
                <a:latin typeface="Microsoft YaHei"/>
                <a:ea typeface="Microsoft YaHei"/>
              </a:rPr>
              <a:t>CASR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37192" y="47365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a:lang="zh-CN">
                <a:solidFill>
                  <a:srgbClr val="1B7A6E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11512" y="4626864"/>
            <a:ext cx="1874519" cy="566928"/>
          </a:xfrm>
          <a:prstGeom prst="roundRect">
            <a:avLst/>
          </a:prstGeom>
          <a:solidFill>
            <a:srgbClr val="E8F2F0"/>
          </a:solidFill>
          <a:ln w="762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02952" y="469087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a:lang="zh-CN">
                <a:solidFill>
                  <a:srgbClr val="20242E"/>
                </a:solidFill>
                <a:latin typeface="Microsoft YaHei"/>
                <a:ea typeface="Microsoft YaHei"/>
              </a:rPr>
              <a:t>Hypocalciuric hypercalcemia, familial, type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5468112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30" b="0" a:lang="zh-CN">
                <a:solidFill>
                  <a:srgbClr val="7A8087"/>
                </a:solidFill>
                <a:latin typeface="Microsoft YaHei"/>
                <a:ea typeface="Microsoft YaHei"/>
              </a:rPr>
              <a:t>共享基因是机制线索，不等同因果验证；下一步先做疾病节点度校正。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9613</TotalTime>
  <Words>162</Words>
  <Application>Microsoft Macintosh PowerPoint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蓝猩</cp:lastModifiedBy>
  <cp:revision>3</cp:revision>
  <dcterms:created xsi:type="dcterms:W3CDTF">2013-01-27T09:14:16Z</dcterms:created>
  <dcterms:modified xsi:type="dcterms:W3CDTF">2026-07-19T08:24:14Z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87214450c7ad11f1b3b4e5b933b4e5b9" pid="2" fmtid="{D5CDD505-2E9C-101B-9397-08002B2CF9AE}">
    <vt:lpwstr>CWMXxbB9z1FbC3hMHmU/Wl7V0FQbQgEeBXY3gYNih+0eos1a3r972vsQF2MaGlgB8VsNv1tCv18v3p3Uv2vRwN4WQ==</vt:lpwstr>
  </property>
</Properties>
</file>