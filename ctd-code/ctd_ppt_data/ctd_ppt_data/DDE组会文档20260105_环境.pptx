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3581" r:id="rId2"/>
    <p:sldId id="23720" r:id="rId3"/>
    <p:sldId id="23719" r:id="rId4"/>
    <p:sldId id="2372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JianPi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999B9F"/>
    <a:srgbClr val="F0F0F0"/>
    <a:srgbClr val="E7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470" autoAdjust="0"/>
    <p:restoredTop sz="95385" autoAdjust="0"/>
  </p:normalViewPr>
  <p:slideViewPr>
    <p:cSldViewPr snapToGrid="0">
      <p:cViewPr varScale="1">
        <p:scale>
          <a:sx n="84" d="100"/>
          <a:sy n="84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492A3-4CAC-401D-86E8-D5199A257E6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C47D8-7E8D-4BF7-9522-394B18A62B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9067C-E7B6-4E9A-AEB2-169310A6B6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49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19527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9969-3147-F398-B852-AC675CA1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7ACD53-6CD6-56A0-B96F-707B3E4E0A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ADBE3-278C-6B46-6144-8B9AD3FFA1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DE58DC5-29CD-AD70-7375-C5EEA6A1B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FCCF282-2F88-A5A8-B9E9-4CD4B6FE7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9C6CC-0CD5-B8D6-33EA-EA91108372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A1517-0FB4-3C70-8892-0D645DCD3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36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3A45-1A06-806B-68DD-38B5F0C9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9C8BF2-896B-B880-E38B-23D9E245B3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0B2B2-B8F2-0E23-BF2B-0D35BE208E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055A2F2-98E2-90B5-734D-C8645F880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ADCC94-7024-D25B-EA9F-C1F7306A0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fontAlgn="base">
              <a:spcAft>
                <a:spcPts val="1200"/>
              </a:spcAft>
            </a:pPr>
            <a:endParaRPr lang="en-US" altLang="zh-CN" b="0" i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8D844-E979-98B3-B6A2-3203888380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D064-8675-9407-7394-CAC31F394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9057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7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8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92000"/>
              </a:lnSpc>
              <a:defRPr sz="4300" b="0" i="0" u="none" strike="noStrike" spc="0">
                <a:solidFill>
                  <a:srgbClr val="000000">
                    <a:alpha val="100000"/>
                  </a:srgbClr>
                </a:solidFill>
                <a:latin typeface="Calibri Light" panose="020F0302020204030204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300" b="0" i="0" u="none" strike="noStrike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92000"/>
              </a:lnSpc>
              <a:defRPr sz="27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lvl="0" indent="342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7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</a:p>
          <a:p>
            <a:pPr marL="269875" lvl="1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</a:p>
          <a:p>
            <a:pPr marL="539750" lvl="2" indent="2413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</a:p>
          <a:p>
            <a:pPr marL="810260" lvl="3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</a:p>
          <a:p>
            <a:pPr marL="1080135" lvl="4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10492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6BE9C-3F15-4027-9AE7-57992A810EE6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7006E4-F4E0-C147-9427-9F75DA365641}"/>
              </a:ext>
            </a:extLst>
          </p:cNvPr>
          <p:cNvSpPr txBox="1"/>
          <p:nvPr/>
        </p:nvSpPr>
        <p:spPr>
          <a:xfrm>
            <a:off x="1187029" y="3650968"/>
            <a:ext cx="840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ea typeface="Heiti SC Medium" pitchFamily="2" charset="-128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Geology Knowledge Engine for Image, Data and Text</a:t>
            </a:r>
            <a:endParaRPr lang="en-CN" sz="2800" dirty="0">
              <a:solidFill>
                <a:schemeClr val="bg1"/>
              </a:solidFill>
              <a:ea typeface="Heiti SC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8A4CB7-4B2B-4B4A-AE8C-FF4BF03BC1BD}"/>
              </a:ext>
            </a:extLst>
          </p:cNvPr>
          <p:cNvSpPr/>
          <p:nvPr/>
        </p:nvSpPr>
        <p:spPr>
          <a:xfrm>
            <a:off x="-365749" y="1373789"/>
            <a:ext cx="11262346" cy="3413760"/>
          </a:xfrm>
          <a:prstGeom prst="rect">
            <a:avLst/>
          </a:prstGeom>
          <a:solidFill>
            <a:srgbClr val="F49A0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A50787-4A69-474F-BAF4-1110E13CA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056" y="1906920"/>
            <a:ext cx="8356030" cy="164852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D2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科学发现案例：</a:t>
            </a:r>
            <a:b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</a:b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EDE101B-270F-E34F-BACE-B0C7A65BE7AE}"/>
              </a:ext>
            </a:extLst>
          </p:cNvPr>
          <p:cNvGrpSpPr/>
          <p:nvPr/>
        </p:nvGrpSpPr>
        <p:grpSpPr>
          <a:xfrm>
            <a:off x="254360" y="462731"/>
            <a:ext cx="2759773" cy="720018"/>
            <a:chOff x="224380" y="175252"/>
            <a:chExt cx="2759709" cy="7200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BEE5F5-FCB7-1042-8C4C-0CECB1233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380" y="175252"/>
              <a:ext cx="720001" cy="7200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B0DBFAC-3D31-7E47-A0CF-7F72D2E51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9654" y="306853"/>
              <a:ext cx="1584435" cy="416957"/>
            </a:xfrm>
            <a:prstGeom prst="rect">
              <a:avLst/>
            </a:prstGeom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7C4312AA-7D7F-2F46-8B73-68D21954C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27" y="175252"/>
              <a:ext cx="0" cy="7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平行四邊形 4">
            <a:extLst>
              <a:ext uri="{FF2B5EF4-FFF2-40B4-BE49-F238E27FC236}">
                <a16:creationId xmlns:a16="http://schemas.microsoft.com/office/drawing/2014/main" id="{2601B93B-4649-CA40-A6D2-8FF378D7D429}"/>
              </a:ext>
            </a:extLst>
          </p:cNvPr>
          <p:cNvSpPr/>
          <p:nvPr/>
        </p:nvSpPr>
        <p:spPr>
          <a:xfrm rot="5400000">
            <a:off x="9475917" y="2792282"/>
            <a:ext cx="4934724" cy="2093364"/>
          </a:xfrm>
          <a:custGeom>
            <a:avLst/>
            <a:gdLst>
              <a:gd name="connsiteX0" fmla="*/ 0 w 3944392"/>
              <a:gd name="connsiteY0" fmla="*/ 2168933 h 2168933"/>
              <a:gd name="connsiteX1" fmla="*/ 542233 w 3944392"/>
              <a:gd name="connsiteY1" fmla="*/ 0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3944392"/>
              <a:gd name="connsiteY0" fmla="*/ 2168933 h 2168933"/>
              <a:gd name="connsiteX1" fmla="*/ 1245040 w 3944392"/>
              <a:gd name="connsiteY1" fmla="*/ 113356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4911695"/>
              <a:gd name="connsiteY0" fmla="*/ 2199162 h 2199162"/>
              <a:gd name="connsiteX1" fmla="*/ 1245040 w 4911695"/>
              <a:gd name="connsiteY1" fmla="*/ 143585 h 2199162"/>
              <a:gd name="connsiteX2" fmla="*/ 4911695 w 4911695"/>
              <a:gd name="connsiteY2" fmla="*/ 0 h 2199162"/>
              <a:gd name="connsiteX3" fmla="*/ 3402159 w 4911695"/>
              <a:gd name="connsiteY3" fmla="*/ 2199162 h 2199162"/>
              <a:gd name="connsiteX4" fmla="*/ 0 w 4911695"/>
              <a:gd name="connsiteY4" fmla="*/ 2199162 h 2199162"/>
              <a:gd name="connsiteX0" fmla="*/ 0 w 4919255"/>
              <a:gd name="connsiteY0" fmla="*/ 2093364 h 2093364"/>
              <a:gd name="connsiteX1" fmla="*/ 1245040 w 4919255"/>
              <a:gd name="connsiteY1" fmla="*/ 37787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  <a:gd name="connsiteX0" fmla="*/ 0 w 4919255"/>
              <a:gd name="connsiteY0" fmla="*/ 2093364 h 2093364"/>
              <a:gd name="connsiteX1" fmla="*/ 1671083 w 4919255"/>
              <a:gd name="connsiteY1" fmla="*/ 17909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9255" h="2093364">
                <a:moveTo>
                  <a:pt x="0" y="2093364"/>
                </a:moveTo>
                <a:lnTo>
                  <a:pt x="1671083" y="17909"/>
                </a:lnTo>
                <a:lnTo>
                  <a:pt x="4919255" y="0"/>
                </a:lnTo>
                <a:lnTo>
                  <a:pt x="3402159" y="2093364"/>
                </a:lnTo>
                <a:lnTo>
                  <a:pt x="0" y="2093364"/>
                </a:lnTo>
                <a:close/>
              </a:path>
            </a:pathLst>
          </a:custGeom>
          <a:solidFill>
            <a:srgbClr val="FABB00">
              <a:alpha val="77647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8DFC198-68EF-72EA-AD34-24224D23AAC6}"/>
              </a:ext>
            </a:extLst>
          </p:cNvPr>
          <p:cNvSpPr/>
          <p:nvPr/>
        </p:nvSpPr>
        <p:spPr>
          <a:xfrm>
            <a:off x="3943568" y="4965142"/>
            <a:ext cx="2858863" cy="17421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环境</a:t>
            </a:r>
            <a:endParaRPr kumimoji="1" lang="en-US" altLang="zh-CN" b="1" dirty="0"/>
          </a:p>
          <a:p>
            <a:pPr algn="ctr"/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（金梦 郑冠杰）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endParaRPr kumimoji="1" lang="en-US" altLang="zh-CN" dirty="0"/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分子网络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（健平）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污染物疾病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曾博义</a:t>
            </a:r>
            <a:r>
              <a:rPr kumimoji="1" lang="zh-CN" altLang="en-US" sz="1400" dirty="0"/>
              <a:t>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方法生成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（苏梓阳，黄哲睿）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9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/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/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-12700" y="219566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05716" y="216222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污染物</a:t>
            </a:r>
            <a:r>
              <a:rPr lang="zh-CN" altLang="en-US" sz="3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分子网络预测</a:t>
            </a: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（周健平）</a:t>
            </a:r>
            <a:endParaRPr 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B17396-F3AF-86A0-B20F-BF7BB4CE9B7C}"/>
              </a:ext>
            </a:extLst>
          </p:cNvPr>
          <p:cNvSpPr/>
          <p:nvPr/>
        </p:nvSpPr>
        <p:spPr>
          <a:xfrm>
            <a:off x="241298" y="1252558"/>
            <a:ext cx="10024026" cy="499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F6757C-C21E-43EA-8679-1411AC8A9FDB}"/>
              </a:ext>
            </a:extLst>
          </p:cNvPr>
          <p:cNvSpPr txBox="1"/>
          <p:nvPr/>
        </p:nvSpPr>
        <p:spPr>
          <a:xfrm>
            <a:off x="199760" y="1218362"/>
            <a:ext cx="10123576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：本周完成项目主页设计，并且完成需求文档撰写，并对接工程师开发系统</a:t>
            </a:r>
            <a:endParaRPr kumimoji="1" lang="e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4" name="表格 16">
            <a:extLst>
              <a:ext uri="{FF2B5EF4-FFF2-40B4-BE49-F238E27FC236}">
                <a16:creationId xmlns:a16="http://schemas.microsoft.com/office/drawing/2014/main" id="{9E84E031-3A4A-6DE2-5D5B-10D58FDF8654}"/>
              </a:ext>
            </a:extLst>
          </p:cNvPr>
          <p:cNvGraphicFramePr>
            <a:graphicFrameLocks noGrp="1"/>
          </p:cNvGraphicFramePr>
          <p:nvPr/>
        </p:nvGraphicFramePr>
        <p:xfrm>
          <a:off x="10477784" y="875480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√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F22CEAA-CF9F-955A-9A5B-DA7A47AA80AC}"/>
              </a:ext>
            </a:extLst>
          </p:cNvPr>
          <p:cNvSpPr txBox="1"/>
          <p:nvPr/>
        </p:nvSpPr>
        <p:spPr>
          <a:xfrm>
            <a:off x="199760" y="6433467"/>
            <a:ext cx="7762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下周计划：</a:t>
            </a:r>
            <a:r>
              <a: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和工程师对接系统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开发与测试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F1BAB0A-6035-2685-1FA5-67D059948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33" y="2038381"/>
            <a:ext cx="4578578" cy="4074627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A252323D-6E6E-9873-D17C-9216F0200D57}"/>
              </a:ext>
            </a:extLst>
          </p:cNvPr>
          <p:cNvGrpSpPr/>
          <p:nvPr/>
        </p:nvGrpSpPr>
        <p:grpSpPr>
          <a:xfrm>
            <a:off x="6105490" y="1843406"/>
            <a:ext cx="3961500" cy="4543259"/>
            <a:chOff x="5198620" y="1732450"/>
            <a:chExt cx="4858880" cy="5239377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03E195B-087C-A7E1-0EA9-DAED825CB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8621" y="1732450"/>
              <a:ext cx="4858879" cy="3032891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FBB9E7C-F5A0-02F1-0CC3-A7B1029E58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7485"/>
            <a:stretch/>
          </p:blipFill>
          <p:spPr>
            <a:xfrm>
              <a:off x="5198620" y="4765341"/>
              <a:ext cx="4858879" cy="2206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760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AE5-09A8-37A8-0689-4311D4D2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DC386D7F-FA1F-ED3E-6938-A6580FCFCB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674"/>
          <a:stretch>
            <a:fillRect/>
          </a:stretch>
        </p:blipFill>
        <p:spPr>
          <a:xfrm>
            <a:off x="6162745" y="3333169"/>
            <a:ext cx="4200455" cy="1177367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17AA5A07-7252-65BD-8574-5AAE626BD391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9A6D676-FAA3-682B-EFCE-C8A8A62A190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0DB88FA3-CD87-73B8-EC96-22A29BB00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9C05B513-C03E-5B25-82C0-A1457DF7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3F8B7AF2-7615-AB04-EF6D-C943E82AAF3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C28450B8-0A67-ACCC-D275-D3D0F542A1C1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A8290A4-913B-57E7-6389-D94018A05A85}"/>
              </a:ext>
            </a:extLst>
          </p:cNvPr>
          <p:cNvSpPr/>
          <p:nvPr/>
        </p:nvSpPr>
        <p:spPr>
          <a:xfrm>
            <a:off x="-12700" y="191127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BA1AC3C-9673-C6EB-2693-77E310ACAAB4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514ACB8-D188-5307-2CB7-6233C7C7742D}"/>
              </a:ext>
            </a:extLst>
          </p:cNvPr>
          <p:cNvSpPr/>
          <p:nvPr/>
        </p:nvSpPr>
        <p:spPr>
          <a:xfrm>
            <a:off x="193804" y="2655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74AFF5-7F0D-8915-C2F3-E76CBCAE70BE}"/>
              </a:ext>
            </a:extLst>
          </p:cNvPr>
          <p:cNvSpPr/>
          <p:nvPr/>
        </p:nvSpPr>
        <p:spPr>
          <a:xfrm>
            <a:off x="205715" y="995496"/>
            <a:ext cx="9510141" cy="9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725877-237B-CE7F-C8C9-82D2D0602B64}"/>
              </a:ext>
            </a:extLst>
          </p:cNvPr>
          <p:cNvSpPr txBox="1"/>
          <p:nvPr/>
        </p:nvSpPr>
        <p:spPr>
          <a:xfrm>
            <a:off x="187848" y="958863"/>
            <a:ext cx="10077476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上周任务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</a:t>
            </a:r>
            <a:r>
              <a:rPr kumimoji="1" lang="en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GraphSAGE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GNN 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算法拓展到全量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CTD 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：完成主页描述，确定系统原型，对接工程师开发系统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3E8558-248B-27A4-840B-D86B698FBBA1}"/>
              </a:ext>
            </a:extLst>
          </p:cNvPr>
          <p:cNvSpPr txBox="1"/>
          <p:nvPr/>
        </p:nvSpPr>
        <p:spPr>
          <a:xfrm>
            <a:off x="-12700" y="6303915"/>
            <a:ext cx="972855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：开发系统，整理数据和模型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表格 16">
            <a:extLst>
              <a:ext uri="{FF2B5EF4-FFF2-40B4-BE49-F238E27FC236}">
                <a16:creationId xmlns:a16="http://schemas.microsoft.com/office/drawing/2014/main" id="{5514D51E-D076-DCE0-A894-C6E007D62A11}"/>
              </a:ext>
            </a:extLst>
          </p:cNvPr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A6C8A697-0FE6-0CB5-03B8-DB48E0A551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265" t="5237" b="8954"/>
          <a:stretch>
            <a:fillRect/>
          </a:stretch>
        </p:blipFill>
        <p:spPr>
          <a:xfrm>
            <a:off x="5454690" y="4587263"/>
            <a:ext cx="5697539" cy="211302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AFD836F-E106-69FF-4CA5-DC4B63DEA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32" y="2056554"/>
            <a:ext cx="4919980" cy="42216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51469F8-6EC1-3101-F27A-B8964F304C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252"/>
          <a:stretch>
            <a:fillRect/>
          </a:stretch>
        </p:blipFill>
        <p:spPr>
          <a:xfrm>
            <a:off x="6162239" y="1934670"/>
            <a:ext cx="4200455" cy="144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0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89C9-55FD-62DC-975A-8D0029D4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4388AFE-FB1C-AF05-0BC0-F2507FCA57E2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575B93E-915C-36EE-65B8-32BD0E8F7CE8}"/>
              </a:ext>
            </a:extLst>
          </p:cNvPr>
          <p:cNvGrpSpPr/>
          <p:nvPr/>
        </p:nvGrpSpPr>
        <p:grpSpPr>
          <a:xfrm>
            <a:off x="10367753" y="321157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76FC8CD2-AC78-3717-61AB-995112DD1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121C7572-62A6-1A8F-7AE8-D2C42BEEA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7679715D-12A9-8492-FDDA-38C56685A0E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5A860132-1090-986F-AD4F-1874FD80F6FE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37C0184-DD75-33B7-5160-61043572DB8A}"/>
              </a:ext>
            </a:extLst>
          </p:cNvPr>
          <p:cNvSpPr/>
          <p:nvPr/>
        </p:nvSpPr>
        <p:spPr>
          <a:xfrm>
            <a:off x="-12700" y="219566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FE19D3A-0376-59A9-8055-2D14FABB6B21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DB5D504-A5F9-520A-E237-2379C9095216}"/>
              </a:ext>
            </a:extLst>
          </p:cNvPr>
          <p:cNvSpPr/>
          <p:nvPr/>
        </p:nvSpPr>
        <p:spPr>
          <a:xfrm>
            <a:off x="205716" y="216222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3100" b="1" i="0" u="none" strike="noStrike" dirty="0" err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污染物处理方法预测</a:t>
            </a:r>
            <a:r>
              <a:rPr lang="en-US" sz="3100" b="1" dirty="0" err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模块</a:t>
            </a: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（苏梓阳）</a:t>
            </a:r>
            <a:endParaRPr 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684252-5C32-2FB4-A81C-9D6E40E0DFE0}"/>
              </a:ext>
            </a:extLst>
          </p:cNvPr>
          <p:cNvSpPr/>
          <p:nvPr/>
        </p:nvSpPr>
        <p:spPr>
          <a:xfrm>
            <a:off x="241298" y="1319344"/>
            <a:ext cx="10024026" cy="112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2D987F-529B-9CAA-0E04-6C9B239A2611}"/>
              </a:ext>
            </a:extLst>
          </p:cNvPr>
          <p:cNvSpPr txBox="1"/>
          <p:nvPr/>
        </p:nvSpPr>
        <p:spPr>
          <a:xfrm>
            <a:off x="336548" y="1330348"/>
            <a:ext cx="9833524" cy="96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上周任务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：构建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Two-Stage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浓度预测模型。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：整理实验结果。</a:t>
            </a:r>
          </a:p>
        </p:txBody>
      </p:sp>
      <p:graphicFrame>
        <p:nvGraphicFramePr>
          <p:cNvPr id="16" name="表格 16">
            <a:extLst>
              <a:ext uri="{FF2B5EF4-FFF2-40B4-BE49-F238E27FC236}">
                <a16:creationId xmlns:a16="http://schemas.microsoft.com/office/drawing/2014/main" id="{79691C93-4085-EE0D-39A5-D4C2905A70A4}"/>
              </a:ext>
            </a:extLst>
          </p:cNvPr>
          <p:cNvGraphicFramePr>
            <a:graphicFrameLocks noGrp="1"/>
          </p:cNvGraphicFramePr>
          <p:nvPr/>
        </p:nvGraphicFramePr>
        <p:xfrm>
          <a:off x="10416023" y="856857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35EDFF1E-067B-B2E9-7A19-996D914E8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7962" y="30071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E104C4-384D-FC0A-265B-20CF01D1F662}"/>
              </a:ext>
            </a:extLst>
          </p:cNvPr>
          <p:cNvSpPr txBox="1"/>
          <p:nvPr/>
        </p:nvSpPr>
        <p:spPr>
          <a:xfrm>
            <a:off x="112772" y="6358440"/>
            <a:ext cx="8882803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：与环境学院对接。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5AE6DD5-E083-815C-A429-B16A20C0D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60" y="2601274"/>
            <a:ext cx="6525824" cy="371319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FA0B2B3-714F-3E1C-A61A-5F17C1A43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799" y="2731037"/>
            <a:ext cx="5056907" cy="334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7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108435</TotalTime>
  <Words>198</Words>
  <Application>Microsoft Macintosh PowerPoint</Application>
  <PresentationFormat>宽屏</PresentationFormat>
  <Paragraphs>43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等线</vt:lpstr>
      <vt:lpstr>KaiTi</vt:lpstr>
      <vt:lpstr>微软雅黑</vt:lpstr>
      <vt:lpstr>微软雅黑</vt:lpstr>
      <vt:lpstr>Heiti SC Medium</vt:lpstr>
      <vt:lpstr>Noto Sans SC</vt:lpstr>
      <vt:lpstr>PingFang SC</vt:lpstr>
      <vt:lpstr>Arial</vt:lpstr>
      <vt:lpstr>Calibri</vt:lpstr>
      <vt:lpstr>Calibri Light</vt:lpstr>
      <vt:lpstr>Wingdings</vt:lpstr>
      <vt:lpstr>Office Theme</vt:lpstr>
      <vt:lpstr>D2 科学发现案例： 环境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Jianping</dc:creator>
  <cp:lastModifiedBy>boyi zeng</cp:lastModifiedBy>
  <cp:revision>398</cp:revision>
  <dcterms:created xsi:type="dcterms:W3CDTF">2023-03-25T09:40:31Z</dcterms:created>
  <dcterms:modified xsi:type="dcterms:W3CDTF">2026-01-11T11:47:20Z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90960556C8214E0CEF62F9636144A168</vt:lpwstr>
  </property>
  <property fmtid="{D5CDD505-2E9C-101B-9397-08002B2CF9AE}" pid="3" name="KSOProductBuildVer">
    <vt:lpwstr>2052-5.2.1.7798</vt:lpwstr>
  </property>
  <property fmtid="{D5CDD505-2E9C-101B-9397-08002B2CF9AE}" pid="4" name="CWM8679b9b0c7ad11f1b3b4e5b933b4e5b9">
    <vt:lpwstr>CWMiry79zjke+ZSGBWWy30sRRGx9+mbKECkD3EAUvxLKFMvV5Ksgc/GbpwXsR302B/GgaEe4cL0gnuVrlPBrt6e1Q==</vt:lpwstr>
  </property>
</Properties>
</file>