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3581" r:id="rId2"/>
    <p:sldId id="23706" r:id="rId3"/>
    <p:sldId id="2372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JianPing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  <a:srgbClr val="999B9F"/>
    <a:srgbClr val="F0F0F0"/>
    <a:srgbClr val="E7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7369" autoAdjust="0"/>
    <p:restoredTop sz="95385" autoAdjust="0"/>
  </p:normalViewPr>
  <p:slideViewPr>
    <p:cSldViewPr snapToGrid="0">
      <p:cViewPr varScale="1">
        <p:scale>
          <a:sx n="83" d="100"/>
          <a:sy n="83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92A3-4CAC-401D-86E8-D5199A257E6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C47D8-7E8D-4BF7-9522-394B18A62B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9067C-E7B6-4E9A-AEB2-169310A6B6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9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19527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8AC6-CF52-05C5-8B20-0C5E7C7C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0C14E5-DD49-2AED-3EF2-DFFA53503A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E6120-4589-735E-27AF-12035D1212C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6EA7C-11B3-5AB9-2E10-5C2326B9B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8711D9-3972-D71F-73C8-CE5D9D2F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</a:rPr>
              <a:t>单击此处添加文本</a:t>
            </a:r>
            <a:endParaRPr lang="en-US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14608-C7E2-32F1-3FCB-C47E657A24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1814-8814-22A2-B919-E7A2E200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5178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7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8" name="Slide Number"/>
          <p:cNvSpPr txBox="1"/>
          <p:nvPr userDrawn="1"/>
        </p:nvSpPr>
        <p:spPr bwMode="gray">
          <a:xfrm>
            <a:off x="11652053" y="6639224"/>
            <a:ext cx="129212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x-none" sz="815" smtClean="0">
                <a:solidFill>
                  <a:schemeClr val="accent6"/>
                </a:solidFill>
              </a:rPr>
              <a:t>‹#›</a:t>
            </a:fld>
            <a:endParaRPr lang="x-none" sz="815" dirty="0">
              <a:solidFill>
                <a:schemeClr val="accent6"/>
              </a:solidFill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>
            <a:off x="10670215" y="51833"/>
            <a:ext cx="1190119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913765"/>
            <a:endParaRPr lang="x-none" sz="610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92000"/>
              </a:lnSpc>
              <a:defRPr sz="4300" b="0" i="0" u="none" strike="noStrike" spc="0">
                <a:solidFill>
                  <a:srgbClr val="000000">
                    <a:alpha val="100000"/>
                  </a:srgbClr>
                </a:solidFill>
                <a:latin typeface="Calibri Light" panose="020F0302020204030204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300" b="0" i="0" u="none" strike="noStrike">
                <a:solidFill>
                  <a:srgbClr val="000000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92000"/>
              </a:lnSpc>
              <a:defRPr sz="27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lvl="0" indent="342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7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</a:p>
          <a:p>
            <a:pPr marL="269875" lvl="1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</a:p>
          <a:p>
            <a:pPr marL="539750" lvl="2" indent="2413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</a:p>
          <a:p>
            <a:pPr marL="810260" lvl="3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</a:p>
          <a:p>
            <a:pPr marL="1080135" lvl="4" indent="2286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10492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BE9C-3F15-4027-9AE7-57992A810EE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C13F4-42C2-45B1-BE3F-70CA7736AD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pdb.acemap.cn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9538487/" TargetMode="External"/><Relationship Id="rId13" Type="http://schemas.openxmlformats.org/officeDocument/2006/relationships/hyperlink" Target="https://pubmed.ncbi.nlm.nih.gov/28689345/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pubmed.ncbi.nlm.nih.gov/15494584/" TargetMode="External"/><Relationship Id="rId12" Type="http://schemas.openxmlformats.org/officeDocument/2006/relationships/hyperlink" Target="https://pmc.ncbi.nlm.nih.gov/articles/PMC4816042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pubmed.ncbi.nlm.nih.gov/16997682/" TargetMode="External"/><Relationship Id="rId11" Type="http://schemas.openxmlformats.org/officeDocument/2006/relationships/hyperlink" Target="https://www.clinicaltherapeutics.com/article/S0149-2918%2814%2900612-2/fulltext" TargetMode="External"/><Relationship Id="rId5" Type="http://schemas.openxmlformats.org/officeDocument/2006/relationships/hyperlink" Target="https://pubmed.ncbi.nlm.nih.gov/12861854/" TargetMode="External"/><Relationship Id="rId10" Type="http://schemas.openxmlformats.org/officeDocument/2006/relationships/hyperlink" Target="https://www.thelancet.com/journals/lancet/article/PIIS0140-6736%2805%2979859-7/fulltext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pubmed.ncbi.nlm.nih.gov/1678802/" TargetMode="External"/><Relationship Id="rId14" Type="http://schemas.openxmlformats.org/officeDocument/2006/relationships/hyperlink" Target="https://pmc.ncbi.nlm.nih.gov/articles/PMC64022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7006E4-F4E0-C147-9427-9F75DA365641}"/>
              </a:ext>
            </a:extLst>
          </p:cNvPr>
          <p:cNvSpPr txBox="1"/>
          <p:nvPr/>
        </p:nvSpPr>
        <p:spPr>
          <a:xfrm>
            <a:off x="1187029" y="3650968"/>
            <a:ext cx="840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ea typeface="Heiti SC Medium" pitchFamily="2" charset="-128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ea typeface="Heiti SC Medium" pitchFamily="2" charset="-128"/>
              </a:rPr>
              <a:t>Geology Knowledge Engine for Image, Data and Text</a:t>
            </a:r>
            <a:endParaRPr lang="en-CN" sz="2800" dirty="0">
              <a:solidFill>
                <a:schemeClr val="bg1"/>
              </a:solidFill>
              <a:ea typeface="Heiti SC Medium" pitchFamily="2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8A4CB7-4B2B-4B4A-AE8C-FF4BF03BC1BD}"/>
              </a:ext>
            </a:extLst>
          </p:cNvPr>
          <p:cNvSpPr/>
          <p:nvPr/>
        </p:nvSpPr>
        <p:spPr>
          <a:xfrm>
            <a:off x="-365749" y="1373789"/>
            <a:ext cx="11262346" cy="3413760"/>
          </a:xfrm>
          <a:prstGeom prst="rect">
            <a:avLst/>
          </a:prstGeom>
          <a:solidFill>
            <a:srgbClr val="F49A0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A50787-4A69-474F-BAF4-1110E13C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056" y="1906920"/>
            <a:ext cx="8356030" cy="164852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D2 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科学发现案例：</a:t>
            </a:r>
            <a:b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1EDE101B-270F-E34F-BACE-B0C7A65BE7AE}"/>
              </a:ext>
            </a:extLst>
          </p:cNvPr>
          <p:cNvGrpSpPr/>
          <p:nvPr/>
        </p:nvGrpSpPr>
        <p:grpSpPr>
          <a:xfrm>
            <a:off x="254360" y="462731"/>
            <a:ext cx="2759773" cy="720018"/>
            <a:chOff x="224380" y="175252"/>
            <a:chExt cx="2759709" cy="720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BEE5F5-FCB7-1042-8C4C-0CECB1233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380" y="175252"/>
              <a:ext cx="720001" cy="7200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0DBFAC-3D31-7E47-A0CF-7F72D2E51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9654" y="306853"/>
              <a:ext cx="1584435" cy="416957"/>
            </a:xfrm>
            <a:prstGeom prst="rect">
              <a:avLst/>
            </a:prstGeom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7C4312AA-7D7F-2F46-8B73-68D21954C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27" y="175252"/>
              <a:ext cx="0" cy="72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平行四邊形 4">
            <a:extLst>
              <a:ext uri="{FF2B5EF4-FFF2-40B4-BE49-F238E27FC236}">
                <a16:creationId xmlns:a16="http://schemas.microsoft.com/office/drawing/2014/main" id="{2601B93B-4649-CA40-A6D2-8FF378D7D429}"/>
              </a:ext>
            </a:extLst>
          </p:cNvPr>
          <p:cNvSpPr/>
          <p:nvPr/>
        </p:nvSpPr>
        <p:spPr>
          <a:xfrm rot="5400000">
            <a:off x="9475917" y="2792282"/>
            <a:ext cx="4934724" cy="2093364"/>
          </a:xfrm>
          <a:custGeom>
            <a:avLst/>
            <a:gdLst>
              <a:gd name="connsiteX0" fmla="*/ 0 w 3944392"/>
              <a:gd name="connsiteY0" fmla="*/ 2168933 h 2168933"/>
              <a:gd name="connsiteX1" fmla="*/ 542233 w 3944392"/>
              <a:gd name="connsiteY1" fmla="*/ 0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3944392"/>
              <a:gd name="connsiteY0" fmla="*/ 2168933 h 2168933"/>
              <a:gd name="connsiteX1" fmla="*/ 1245040 w 3944392"/>
              <a:gd name="connsiteY1" fmla="*/ 113356 h 2168933"/>
              <a:gd name="connsiteX2" fmla="*/ 3944392 w 3944392"/>
              <a:gd name="connsiteY2" fmla="*/ 0 h 2168933"/>
              <a:gd name="connsiteX3" fmla="*/ 3402159 w 3944392"/>
              <a:gd name="connsiteY3" fmla="*/ 2168933 h 2168933"/>
              <a:gd name="connsiteX4" fmla="*/ 0 w 3944392"/>
              <a:gd name="connsiteY4" fmla="*/ 2168933 h 2168933"/>
              <a:gd name="connsiteX0" fmla="*/ 0 w 4911695"/>
              <a:gd name="connsiteY0" fmla="*/ 2199162 h 2199162"/>
              <a:gd name="connsiteX1" fmla="*/ 1245040 w 4911695"/>
              <a:gd name="connsiteY1" fmla="*/ 143585 h 2199162"/>
              <a:gd name="connsiteX2" fmla="*/ 4911695 w 4911695"/>
              <a:gd name="connsiteY2" fmla="*/ 0 h 2199162"/>
              <a:gd name="connsiteX3" fmla="*/ 3402159 w 4911695"/>
              <a:gd name="connsiteY3" fmla="*/ 2199162 h 2199162"/>
              <a:gd name="connsiteX4" fmla="*/ 0 w 4911695"/>
              <a:gd name="connsiteY4" fmla="*/ 2199162 h 2199162"/>
              <a:gd name="connsiteX0" fmla="*/ 0 w 4919255"/>
              <a:gd name="connsiteY0" fmla="*/ 2093364 h 2093364"/>
              <a:gd name="connsiteX1" fmla="*/ 1245040 w 4919255"/>
              <a:gd name="connsiteY1" fmla="*/ 37787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  <a:gd name="connsiteX0" fmla="*/ 0 w 4919255"/>
              <a:gd name="connsiteY0" fmla="*/ 2093364 h 2093364"/>
              <a:gd name="connsiteX1" fmla="*/ 1671083 w 4919255"/>
              <a:gd name="connsiteY1" fmla="*/ 17909 h 2093364"/>
              <a:gd name="connsiteX2" fmla="*/ 4919255 w 4919255"/>
              <a:gd name="connsiteY2" fmla="*/ 0 h 2093364"/>
              <a:gd name="connsiteX3" fmla="*/ 3402159 w 4919255"/>
              <a:gd name="connsiteY3" fmla="*/ 2093364 h 2093364"/>
              <a:gd name="connsiteX4" fmla="*/ 0 w 4919255"/>
              <a:gd name="connsiteY4" fmla="*/ 2093364 h 209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9255" h="2093364">
                <a:moveTo>
                  <a:pt x="0" y="2093364"/>
                </a:moveTo>
                <a:lnTo>
                  <a:pt x="1671083" y="17909"/>
                </a:lnTo>
                <a:lnTo>
                  <a:pt x="4919255" y="0"/>
                </a:lnTo>
                <a:lnTo>
                  <a:pt x="3402159" y="2093364"/>
                </a:lnTo>
                <a:lnTo>
                  <a:pt x="0" y="2093364"/>
                </a:lnTo>
                <a:close/>
              </a:path>
            </a:pathLst>
          </a:custGeom>
          <a:solidFill>
            <a:srgbClr val="FABB00">
              <a:alpha val="77647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DFC198-68EF-72EA-AD34-24224D23AAC6}"/>
              </a:ext>
            </a:extLst>
          </p:cNvPr>
          <p:cNvSpPr/>
          <p:nvPr/>
        </p:nvSpPr>
        <p:spPr>
          <a:xfrm>
            <a:off x="3943568" y="4965142"/>
            <a:ext cx="2858863" cy="17421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环境</a:t>
            </a:r>
            <a:endParaRPr kumimoji="1" lang="en-US" altLang="zh-CN" b="1" dirty="0"/>
          </a:p>
          <a:p>
            <a:pPr algn="ctr"/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（金梦 郑冠杰）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endParaRPr kumimoji="1" lang="en-US" altLang="zh-CN" dirty="0"/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分子网络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（健平）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污染物疾病</a:t>
            </a:r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曾博义</a:t>
            </a:r>
            <a:r>
              <a:rPr kumimoji="1" lang="zh-CN" altLang="en-US" sz="1400" dirty="0"/>
              <a:t>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</a:rPr>
              <a:t>方法生成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（苏梓阳，黄哲睿）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9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8DA76222-DFCE-2576-9C6E-D98F6929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73" y="1786314"/>
            <a:ext cx="4143611" cy="4932616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/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/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-12700" y="219566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05716" y="216222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污染物</a:t>
            </a:r>
            <a:r>
              <a:rPr lang="zh-CN" altLang="en-US" sz="3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分子网络预测</a:t>
            </a:r>
            <a:r>
              <a:rPr lang="zh-CN" altLang="en-US" sz="3100" b="1" i="0" u="none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（周健平）</a:t>
            </a:r>
            <a:endParaRPr 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17396-F3AF-86A0-B20F-BF7BB4CE9B7C}"/>
              </a:ext>
            </a:extLst>
          </p:cNvPr>
          <p:cNvSpPr/>
          <p:nvPr/>
        </p:nvSpPr>
        <p:spPr>
          <a:xfrm>
            <a:off x="241298" y="1252558"/>
            <a:ext cx="10024026" cy="499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F6757C-C21E-43EA-8679-1411AC8A9FDB}"/>
              </a:ext>
            </a:extLst>
          </p:cNvPr>
          <p:cNvSpPr txBox="1"/>
          <p:nvPr/>
        </p:nvSpPr>
        <p:spPr>
          <a:xfrm>
            <a:off x="199760" y="1218362"/>
            <a:ext cx="10123576" cy="49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：本周完成了系统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logo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的设计，以及对接工程师完成项目主页的开发</a:t>
            </a:r>
            <a:endParaRPr kumimoji="1" lang="en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4" name="表格 16">
            <a:extLst>
              <a:ext uri="{FF2B5EF4-FFF2-40B4-BE49-F238E27FC236}">
                <a16:creationId xmlns:a16="http://schemas.microsoft.com/office/drawing/2014/main" id="{9E84E031-3A4A-6DE2-5D5B-10D58FDF8654}"/>
              </a:ext>
            </a:extLst>
          </p:cNvPr>
          <p:cNvGraphicFramePr>
            <a:graphicFrameLocks noGrp="1"/>
          </p:cNvGraphicFramePr>
          <p:nvPr/>
        </p:nvGraphicFramePr>
        <p:xfrm>
          <a:off x="10477784" y="875480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√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7F22CEAA-CF9F-955A-9A5B-DA7A47AA80AC}"/>
              </a:ext>
            </a:extLst>
          </p:cNvPr>
          <p:cNvSpPr txBox="1"/>
          <p:nvPr/>
        </p:nvSpPr>
        <p:spPr>
          <a:xfrm>
            <a:off x="199760" y="6433467"/>
            <a:ext cx="7762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</a:t>
            </a:r>
            <a:r>
              <a:rPr kumimoji="1" lang="zh-CN" altLang="en-US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计划：</a:t>
            </a:r>
            <a:r>
              <a: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与小组同学和工程师对接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系统开发，测试子页面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94613F-B2D8-1A95-D008-B6C161FCE207}"/>
              </a:ext>
            </a:extLst>
          </p:cNvPr>
          <p:cNvSpPr txBox="1"/>
          <p:nvPr/>
        </p:nvSpPr>
        <p:spPr>
          <a:xfrm>
            <a:off x="7264551" y="6494190"/>
            <a:ext cx="2669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6"/>
              </a:rPr>
              <a:t>https://epdb.acemap.cn/</a:t>
            </a:r>
            <a:r>
              <a:rPr lang="zh-CN" altLang="en-US" dirty="0"/>
              <a:t>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B34B62-251F-576A-C954-3F944D5549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25" y="1953204"/>
            <a:ext cx="5138521" cy="356587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F92A942-868D-3E9C-DBD5-2618ADC547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624" y="3916278"/>
            <a:ext cx="2517189" cy="25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0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872C-A697-E108-11BD-DD786D86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02DC84-A2C5-8F5B-6239-B025DE10D165}"/>
              </a:ext>
            </a:extLst>
          </p:cNvPr>
          <p:cNvSpPr/>
          <p:nvPr/>
        </p:nvSpPr>
        <p:spPr>
          <a:xfrm>
            <a:off x="-12700" y="18256"/>
            <a:ext cx="5329451" cy="6627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DB04D50-A08D-755B-46E3-055A5B1028C1}"/>
              </a:ext>
            </a:extLst>
          </p:cNvPr>
          <p:cNvGrpSpPr/>
          <p:nvPr/>
        </p:nvGrpSpPr>
        <p:grpSpPr>
          <a:xfrm>
            <a:off x="10417331" y="470173"/>
            <a:ext cx="1568953" cy="409337"/>
            <a:chOff x="10423287" y="375693"/>
            <a:chExt cx="1568953" cy="409337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3FAC5586-E10E-9E65-9EEA-A35A9170D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423287" y="375693"/>
              <a:ext cx="409336" cy="409336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5F0C2C06-E8A5-E583-B44A-E23AE5241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091455" y="450511"/>
              <a:ext cx="900785" cy="237049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6" name="Connector 6">
              <a:extLst>
                <a:ext uri="{FF2B5EF4-FFF2-40B4-BE49-F238E27FC236}">
                  <a16:creationId xmlns:a16="http://schemas.microsoft.com/office/drawing/2014/main" id="{DC74718E-31F7-9B9A-EF52-A887A0910D54}"/>
                </a:ext>
              </a:extLst>
            </p:cNvPr>
            <p:cNvCxnSpPr/>
            <p:nvPr/>
          </p:nvCxnSpPr>
          <p:spPr>
            <a:xfrm rot="-2700000" flipV="1">
              <a:off x="10808795" y="435640"/>
              <a:ext cx="289444" cy="289444"/>
            </a:xfrm>
            <a:prstGeom prst="line">
              <a:avLst/>
            </a:prstGeom>
            <a:noFill/>
            <a:ln w="12700" cap="flat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B268B44B-E1CE-F6BB-029D-425280D8E90C}"/>
              </a:ext>
            </a:extLst>
          </p:cNvPr>
          <p:cNvSpPr/>
          <p:nvPr/>
        </p:nvSpPr>
        <p:spPr>
          <a:xfrm>
            <a:off x="199760" y="19589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2F55FF8-0E84-FC4F-F0ED-E782A23B9FC1}"/>
              </a:ext>
            </a:extLst>
          </p:cNvPr>
          <p:cNvSpPr/>
          <p:nvPr/>
        </p:nvSpPr>
        <p:spPr>
          <a:xfrm>
            <a:off x="-12700" y="191127"/>
            <a:ext cx="10278024" cy="873312"/>
          </a:xfrm>
          <a:prstGeom prst="rect">
            <a:avLst/>
          </a:prstGeom>
          <a:solidFill>
            <a:srgbClr val="FFC000"/>
          </a:solidFill>
          <a:ln w="12700" cap="flat">
            <a:noFill/>
            <a:prstDash val="solid"/>
          </a:ln>
          <a:effectLst>
            <a:outerShdw blurRad="38100" dist="38100" dir="2700000" algn="tr" rotWithShape="0">
              <a:srgbClr val="000000">
                <a:alpha val="40000"/>
              </a:srgbClr>
            </a:outerShdw>
          </a:effectLst>
        </p:spPr>
        <p:txBody>
          <a:bodyPr lIns="95250" tIns="47625" rIns="95250" bIns="47625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CC286E9E-DC33-3F00-4B1D-833F87C7C5BC}"/>
              </a:ext>
            </a:extLst>
          </p:cNvPr>
          <p:cNvSpPr/>
          <p:nvPr/>
        </p:nvSpPr>
        <p:spPr>
          <a:xfrm>
            <a:off x="199760" y="239867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E4FBAE1-0F40-64B5-1201-1ACA8BF470DC}"/>
              </a:ext>
            </a:extLst>
          </p:cNvPr>
          <p:cNvSpPr/>
          <p:nvPr/>
        </p:nvSpPr>
        <p:spPr>
          <a:xfrm>
            <a:off x="193804" y="265568"/>
            <a:ext cx="9728557" cy="869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5250" tIns="47625" rIns="95250" bIns="47625" rtlCol="0" anchor="ctr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污染物数据库（曾博义）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3D843-5DDD-1B37-1A03-17EF3CECEB75}"/>
              </a:ext>
            </a:extLst>
          </p:cNvPr>
          <p:cNvSpPr/>
          <p:nvPr/>
        </p:nvSpPr>
        <p:spPr>
          <a:xfrm>
            <a:off x="205715" y="995496"/>
            <a:ext cx="9510141" cy="926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4F1FD3-085D-DB89-8F63-CA2965A6A5E5}"/>
              </a:ext>
            </a:extLst>
          </p:cNvPr>
          <p:cNvSpPr txBox="1"/>
          <p:nvPr/>
        </p:nvSpPr>
        <p:spPr>
          <a:xfrm>
            <a:off x="187848" y="958863"/>
            <a:ext cx="10077476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上周任务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：解决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GAT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模型在全量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CTD 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数据上显存占用过高的问题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本周增量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：搜集数据集外新发现的疾病污染物关系是否有文献证据支持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5AA8A28-7BD1-52E5-F494-59599B07C063}"/>
              </a:ext>
            </a:extLst>
          </p:cNvPr>
          <p:cNvSpPr txBox="1"/>
          <p:nvPr/>
        </p:nvSpPr>
        <p:spPr>
          <a:xfrm>
            <a:off x="-12700" y="6303915"/>
            <a:ext cx="972855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l"/>
            </a:pPr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下周计划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：搜集更多新发现的疾病污染物关系是否有文献证据支持，构建系统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表格 16">
            <a:extLst>
              <a:ext uri="{FF2B5EF4-FFF2-40B4-BE49-F238E27FC236}">
                <a16:creationId xmlns:a16="http://schemas.microsoft.com/office/drawing/2014/main" id="{31B18509-B243-6EDE-141C-0C7E97A38B22}"/>
              </a:ext>
            </a:extLst>
          </p:cNvPr>
          <p:cNvGraphicFramePr>
            <a:graphicFrameLocks noGrp="1"/>
          </p:cNvGraphicFramePr>
          <p:nvPr/>
        </p:nvGraphicFramePr>
        <p:xfrm>
          <a:off x="10417331" y="984174"/>
          <a:ext cx="156895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470">
                  <a:extLst>
                    <a:ext uri="{9D8B030D-6E8A-4147-A177-3AD203B41FA5}">
                      <a16:colId xmlns:a16="http://schemas.microsoft.com/office/drawing/2014/main" val="1243722429"/>
                    </a:ext>
                  </a:extLst>
                </a:gridCol>
                <a:gridCol w="632484">
                  <a:extLst>
                    <a:ext uri="{9D8B030D-6E8A-4147-A177-3AD203B41FA5}">
                      <a16:colId xmlns:a16="http://schemas.microsoft.com/office/drawing/2014/main" val="365888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4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1" dirty="0">
                        <a:solidFill>
                          <a:srgbClr val="C00000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2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5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新调研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172803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91CE142-7789-9F32-8893-CE03BDF1C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72335"/>
              </p:ext>
            </p:extLst>
          </p:nvPr>
        </p:nvGraphicFramePr>
        <p:xfrm>
          <a:off x="199760" y="2052297"/>
          <a:ext cx="1167631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827">
                  <a:extLst>
                    <a:ext uri="{9D8B030D-6E8A-4147-A177-3AD203B41FA5}">
                      <a16:colId xmlns:a16="http://schemas.microsoft.com/office/drawing/2014/main" val="1176822741"/>
                    </a:ext>
                  </a:extLst>
                </a:gridCol>
                <a:gridCol w="2975121">
                  <a:extLst>
                    <a:ext uri="{9D8B030D-6E8A-4147-A177-3AD203B41FA5}">
                      <a16:colId xmlns:a16="http://schemas.microsoft.com/office/drawing/2014/main" val="444377804"/>
                    </a:ext>
                  </a:extLst>
                </a:gridCol>
                <a:gridCol w="7120369">
                  <a:extLst>
                    <a:ext uri="{9D8B030D-6E8A-4147-A177-3AD203B41FA5}">
                      <a16:colId xmlns:a16="http://schemas.microsoft.com/office/drawing/2014/main" val="258907746"/>
                    </a:ext>
                  </a:extLst>
                </a:gridCol>
              </a:tblGrid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Compound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Paper title (hyperlink)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403641"/>
                  </a:ext>
                </a:extLst>
              </a:tr>
              <a:tr h="375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Sulfamethoxazole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Acute Generalized </a:t>
                      </a:r>
                      <a:r>
                        <a:rPr lang="en" sz="1400" dirty="0" err="1"/>
                        <a:t>Exanthematous</a:t>
                      </a:r>
                      <a:r>
                        <a:rPr lang="en" sz="1400" dirty="0"/>
                        <a:t> Pustulosis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solidFill>
                            <a:srgbClr val="C0000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Acute generalized exanthematous pustulosis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due to </a:t>
                      </a:r>
                      <a:r>
                        <a:rPr lang="en" sz="1400" dirty="0">
                          <a:solidFill>
                            <a:srgbClr val="C0000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sulfamethoxazol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with positive lymphocyte transformation test (LTT)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815736"/>
                  </a:ext>
                </a:extLst>
              </a:tr>
              <a:tr h="375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Methadone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Hyperglycemic Hyperosmolar Nonketotic Coma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solidFill>
                            <a:srgbClr val="C0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Nonketotic hyperglycemic coma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 toddlers after unintentional </a:t>
                      </a:r>
                      <a:r>
                        <a:rPr lang="en" sz="1400" dirty="0">
                          <a:solidFill>
                            <a:srgbClr val="C0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methadone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ingestion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25423"/>
                  </a:ext>
                </a:extLst>
              </a:tr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Fibrinolytic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Vertebrobasilar Insufficiency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7"/>
                        </a:rPr>
                        <a:t>Long-term outcome after intravenous thrombolysis of basilar artery occlusion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370330"/>
                  </a:ext>
                </a:extLst>
              </a:tr>
              <a:tr h="375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Lithium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Hyperglycemic Hyperosmolar Nonketotic Coma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solidFill>
                            <a:srgbClr val="C00000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Hyperosmolar nonketotic coma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precipitated by</a:t>
                      </a:r>
                      <a:r>
                        <a:rPr lang="en" sz="1400" dirty="0">
                          <a:solidFill>
                            <a:srgbClr val="C00000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lithium-induced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nephrogenic diabetes insipidus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869975"/>
                  </a:ext>
                </a:extLst>
              </a:tr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Octreotide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Pancreatic Pseudocyst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9"/>
                        </a:rPr>
                        <a:t>Treatment of </a:t>
                      </a:r>
                      <a:r>
                        <a:rPr lang="en" sz="14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pancreatic pseudocysts </a:t>
                      </a:r>
                      <a:r>
                        <a:rPr lang="en" sz="1400" dirty="0">
                          <a:hlinkClick r:id="rId9"/>
                        </a:rPr>
                        <a:t>with </a:t>
                      </a:r>
                      <a:r>
                        <a:rPr lang="en" sz="14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octreotide</a:t>
                      </a:r>
                      <a:endParaRPr lang="en" sz="14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443102"/>
                  </a:ext>
                </a:extLst>
              </a:tr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Ritonavir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Pancreatic Pseudocyst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10"/>
                        </a:rPr>
                        <a:t>Lipid lowering therapy in patients with HIV infection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899727"/>
                  </a:ext>
                </a:extLst>
              </a:tr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Ceftazidime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Articulation Disorders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11"/>
                        </a:rPr>
                        <a:t>Neurotoxicity with Antimicrobials in the Elderly: A Review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607742"/>
                  </a:ext>
                </a:extLst>
              </a:tr>
              <a:tr h="22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Phenytoin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Lipomyelomeningocele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12"/>
                        </a:rPr>
                        <a:t>Use of Antiepileptic Medications in Pregnancy in Relation to Risks of Birth Defects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948262"/>
                  </a:ext>
                </a:extLst>
              </a:tr>
              <a:tr h="375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Acetazolamide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Brain Death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hlinkClick r:id="rId13"/>
                        </a:rPr>
                        <a:t>Extensive </a:t>
                      </a:r>
                      <a:r>
                        <a:rPr lang="en" sz="14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brain infarction </a:t>
                      </a:r>
                      <a:r>
                        <a:rPr lang="en" sz="1400" dirty="0">
                          <a:solidFill>
                            <a:srgbClr val="954F72"/>
                          </a:solidFill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involving deep structures during an </a:t>
                      </a:r>
                      <a:r>
                        <a:rPr lang="en" sz="1400" dirty="0">
                          <a:solidFill>
                            <a:srgbClr val="C00000"/>
                          </a:solidFill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</a:t>
                      </a:r>
                      <a:r>
                        <a:rPr lang="en" sz="14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cetazolamide-</a:t>
                      </a:r>
                      <a:r>
                        <a:rPr lang="en" sz="1400" dirty="0">
                          <a:hlinkClick r:id="rId13"/>
                        </a:rPr>
                        <a:t>challenged single-photon emission computed tomography scan in a patient with moyamoya disease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731670"/>
                  </a:ext>
                </a:extLst>
              </a:tr>
              <a:tr h="183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Cocaine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Pneumopericardium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Cocaine-Induced Pneumopericardium</a:t>
                      </a:r>
                      <a:r>
                        <a:rPr lang="en" sz="1400" dirty="0">
                          <a:hlinkClick r:id="rId14"/>
                        </a:rPr>
                        <a:t>: Safe for Discharge? A Case Report and Literature Review</a:t>
                      </a:r>
                      <a:endParaRPr lang="e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27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21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108817</TotalTime>
  <Words>337</Words>
  <Application>Microsoft Macintosh PowerPoint</Application>
  <PresentationFormat>宽屏</PresentationFormat>
  <Paragraphs>65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等线</vt:lpstr>
      <vt:lpstr>KaiTi</vt:lpstr>
      <vt:lpstr>Microsoft YaHei</vt:lpstr>
      <vt:lpstr>Microsoft YaHei</vt:lpstr>
      <vt:lpstr>Heiti SC Medium</vt:lpstr>
      <vt:lpstr>Noto Sans SC</vt:lpstr>
      <vt:lpstr>Arial</vt:lpstr>
      <vt:lpstr>Calibri</vt:lpstr>
      <vt:lpstr>Calibri Light</vt:lpstr>
      <vt:lpstr>Wingdings</vt:lpstr>
      <vt:lpstr>Office Theme</vt:lpstr>
      <vt:lpstr>D2 科学发现案例： 环境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Jianping</dc:creator>
  <cp:lastModifiedBy>boyi zeng</cp:lastModifiedBy>
  <cp:revision>401</cp:revision>
  <dcterms:created xsi:type="dcterms:W3CDTF">2023-03-25T09:40:31Z</dcterms:created>
  <dcterms:modified xsi:type="dcterms:W3CDTF">2026-01-25T12:37:25Z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90960556C8214E0CEF62F9636144A168</vt:lpwstr>
  </property>
  <property fmtid="{D5CDD505-2E9C-101B-9397-08002B2CF9AE}" pid="3" name="KSOProductBuildVer">
    <vt:lpwstr>2052-5.2.1.7798</vt:lpwstr>
  </property>
  <property fmtid="{D5CDD505-2E9C-101B-9397-08002B2CF9AE}" pid="4" name="CWM88749f50c7ad11f1b3b4e5b933b4e5b9">
    <vt:lpwstr>CWMiry79zjke+ZSGBWWy30sRRGx9+mbKECkD3EAUvxLKFMvV5Ksgc/GbpwXsR302B/GFYPpJQXcy/9xHAZIREOukw==</vt:lpwstr>
  </property>
</Properties>
</file>