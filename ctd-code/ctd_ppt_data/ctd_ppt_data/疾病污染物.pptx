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 ?>
<Relationships xmlns="http://schemas.openxmlformats.org/package/2006/relationships">
    <Relationship Id="rId3" Type="http://schemas.openxmlformats.org/package/2006/relationships/metadata/core-properties" Target="docProps/core.xml" />
    <Relationship Id="rId2" Type="http://schemas.openxmlformats.org/package/2006/relationships/metadata/thumbnail" Target="docProps/thumbnail.jpeg" />
    <Relationship Id="rId1" Type="http://schemas.openxmlformats.org/officeDocument/2006/relationships/officeDocument" Target="ppt/presentation.xml" />
    <Relationship Id="rId4" Type="http://schemas.openxmlformats.org/officeDocument/2006/relationships/extended-properties" Target="docProps/app.xml" />
    <Relationship Id="rId5" Type="http://schemas.openxmlformats.org/officeDocument/2006/relationships/custom-properties" Target="docProps/custom.xml" 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3726" r:id="rId2"/>
    <p:sldId id="23720" r:id="rId3"/>
    <p:sldId id="23721" r:id="rId4"/>
    <p:sldId id="23714" r:id="rId5"/>
    <p:sldId id="23727" r:id="rId6"/>
    <p:sldId id="23716" r:id="rId7"/>
    <p:sldId id="23710" r:id="rId8"/>
    <p:sldId id="23717" r:id="rId9"/>
    <p:sldId id="23728" r:id="rId10"/>
    <p:sldId id="23730" r:id="rId11"/>
    <p:sldId id="23729" r:id="rId12"/>
    <p:sldId id="23724" r:id="rId13"/>
    <p:sldId id="23723" r:id="rId14"/>
    <p:sldId id="23722" r:id="rId15"/>
    <p:sldId id="256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96"/>
    <p:restoredTop sz="94653"/>
  </p:normalViewPr>
  <p:slideViewPr>
    <p:cSldViewPr snapToGrid="0">
      <p:cViewPr varScale="1">
        <p:scale>
          <a:sx n="80" d="100"/>
          <a:sy n="80" d="100"/>
        </p:scale>
        <p:origin x="13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B671DC-9AFB-704B-903A-846D53EC4407}" type="datetimeFigureOut">
              <a:rPr kumimoji="1" lang="zh-CN" altLang="en-US" smtClean="0"/>
              <a:t>2026/6/7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336E0-A8CB-B64B-BE09-A60E34F1CF2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61229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AB13B-AEF1-771F-AE3B-AE39ACF28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796375-706F-0A60-0C86-AF1F7CA6FD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9E1265-5370-B8CB-D608-03903B4DF36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B579957-F1C4-DD01-387B-E7C8C7C4C7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7748BD7-596F-F1CC-0091-D6E18EF3BD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 dirty="0" err="1">
                <a:solidFill>
                  <a:srgbClr val="000000"/>
                </a:solidFill>
              </a:rPr>
              <a:t>单击此处添加文本</a:t>
            </a:r>
            <a:endParaRPr lang="en-US" sz="12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645674-A368-5A76-1883-E4A59CA5408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EE6F7F-407C-F872-1F72-88B1D81FCA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54513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5F84F-D8CD-7544-0F69-0521D68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DB01E3-AD42-CCB0-EC95-1EC7B01D99F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FD20E5-D3CB-346E-CA8E-AC62B2485E5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8E38492-2389-CC97-18F8-F26ECDC53C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FD140BC-E84B-831E-1ED0-31C394FC23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 dirty="0" err="1">
                <a:solidFill>
                  <a:srgbClr val="000000"/>
                </a:solidFill>
              </a:rPr>
              <a:t>单击此处添加文本</a:t>
            </a:r>
            <a:endParaRPr lang="en-US" sz="12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F38D78-1DCF-1AD9-DD20-A17C300FDF2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522846-E444-158A-DE98-0E84A68D0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729290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AAF38-94D9-78E2-E961-BD1758531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3058FFC-72FD-99EE-BE54-DA848848F1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E18CBF-AFEA-1B21-9D94-78E7D603AAF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0515949-B79A-18BC-A1A1-B50F872050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8059208-63AE-3C44-2B22-323326ACFB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 dirty="0" err="1">
                <a:solidFill>
                  <a:srgbClr val="000000"/>
                </a:solidFill>
              </a:rPr>
              <a:t>单击此处添加文本</a:t>
            </a:r>
            <a:endParaRPr lang="en-US" sz="12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82B2CB-E5DA-CF51-5747-8005E611CE4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021E67-0EFE-2881-23F0-53E57C23D4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16937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0B0E2-1753-463F-0997-A8BFADCA6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42D1A6D-0BE6-EB74-F48A-9BA2996C719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ABD36B-08D5-DF03-998D-7E4A411DE56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F89C387-3D8A-6EAF-2460-F3E0E7DD7F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8865D74-AAE3-4813-9E2D-F2774208C2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 dirty="0" err="1">
                <a:solidFill>
                  <a:srgbClr val="000000"/>
                </a:solidFill>
              </a:rPr>
              <a:t>单击此处添加文本</a:t>
            </a:r>
            <a:endParaRPr lang="en-US" sz="12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AAE1A4-4EB0-1B04-CB2B-3F48F0B3CB9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7B8980-A5BA-0199-4882-BE35FC6431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9336721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75B13-CC4E-3B80-D1A8-0FD940B43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6575B8-F79A-0DBB-DBF8-83551FE7E8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FE7BAF-6373-E040-BD01-7B6C56C75DB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FE814B7-6AC1-24AD-D123-4EA864714C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18A9519-7455-D744-E46F-A0FEE48214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 dirty="0" err="1">
                <a:solidFill>
                  <a:srgbClr val="000000"/>
                </a:solidFill>
              </a:rPr>
              <a:t>单击此处添加文本</a:t>
            </a:r>
            <a:endParaRPr lang="en-US" sz="12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7E55B7-B095-6058-9961-E76A528E7A9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B411E-2A3B-D3C5-A45E-59E72C871F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8724325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0B0E2-1753-463F-0997-A8BFADCA6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42D1A6D-0BE6-EB74-F48A-9BA2996C719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ABD36B-08D5-DF03-998D-7E4A411DE56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F89C387-3D8A-6EAF-2460-F3E0E7DD7F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8865D74-AAE3-4813-9E2D-F2774208C2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 dirty="0" err="1">
                <a:solidFill>
                  <a:srgbClr val="000000"/>
                </a:solidFill>
              </a:rPr>
              <a:t>单击此处添加文本</a:t>
            </a:r>
            <a:endParaRPr lang="en-US" sz="12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AAE1A4-4EB0-1B04-CB2B-3F48F0B3CB9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7B8980-A5BA-0199-4882-BE35FC6431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9336721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6AB90-8E09-5CE6-49FB-2AAE3E415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F13BD7-E64C-F8A8-53F7-8789E6ED3D0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C63BD-C5EA-D55C-233A-BE8D396AFB6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AB810F3-7D4A-1C90-F238-299998CA20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A5181D3-3DFE-D73D-A31F-8A5FF657F5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 dirty="0" err="1">
                <a:solidFill>
                  <a:srgbClr val="000000"/>
                </a:solidFill>
              </a:rPr>
              <a:t>单击此处添加文本</a:t>
            </a:r>
            <a:endParaRPr lang="en-US" sz="12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4500E-108D-A353-971A-F03B9046AAF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289271-F5F5-C7CF-C6B5-A88465DB01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9935783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0B0E2-1753-463F-0997-A8BFADCA6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42D1A6D-0BE6-EB74-F48A-9BA2996C719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ABD36B-08D5-DF03-998D-7E4A411DE56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F89C387-3D8A-6EAF-2460-F3E0E7DD7F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8865D74-AAE3-4813-9E2D-F2774208C2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 dirty="0" err="1">
                <a:solidFill>
                  <a:srgbClr val="000000"/>
                </a:solidFill>
              </a:rPr>
              <a:t>单击此处添加文本</a:t>
            </a:r>
            <a:endParaRPr lang="en-US" sz="12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AAE1A4-4EB0-1B04-CB2B-3F48F0B3CB9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7B8980-A5BA-0199-4882-BE35FC6431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9336721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80EA7-5343-9B22-BB7F-E175D9D2E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54E8EFF-186D-4E1C-5D4F-BE6083680E1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4229A4-DECE-9CD5-B268-14D68034433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908F731-C3B1-0527-63F2-053F447935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62828D3-39BC-4E0C-69A6-8521A6048F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 dirty="0" err="1">
                <a:solidFill>
                  <a:srgbClr val="000000"/>
                </a:solidFill>
              </a:rPr>
              <a:t>单击此处添加文本</a:t>
            </a:r>
            <a:endParaRPr lang="en-US" sz="12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BB8F09-41CB-E6A4-4637-7549BE4A687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5E000E-D868-5C21-314C-1DC53661DC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9492824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3BAF5-0101-7A86-973A-2F0FEC22E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504CDFE-EA03-D875-9B41-EFCF2AB7FAA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D35DBA-E908-9B07-2BE8-7320A3EAB37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182DF64-357F-B294-FAA5-DFD8868908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DE96F1F-F8D0-BC0F-808E-61BBD89977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 dirty="0" err="1">
                <a:solidFill>
                  <a:srgbClr val="000000"/>
                </a:solidFill>
              </a:rPr>
              <a:t>单击此处添加文本</a:t>
            </a:r>
            <a:endParaRPr lang="en-US" sz="12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689346-BF91-1E7E-16FC-51328947CBB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539103-1F67-6410-46CB-B6AAA24549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515801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28A61-1D97-69B2-CC8E-79B4E4EEA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4390F0D-D86B-60F4-F6F8-E3052EA874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A1FACB-FE5E-A65B-153C-A761AD468BA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772420B-2370-3527-E308-35DF9A4A9A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616E729-2FA1-B52F-C23E-AA391E217E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 dirty="0" err="1">
                <a:solidFill>
                  <a:srgbClr val="000000"/>
                </a:solidFill>
              </a:rPr>
              <a:t>单击此处添加文本</a:t>
            </a:r>
            <a:endParaRPr lang="en-US" sz="12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AF8292-87A1-F867-81CA-2B3B8A91059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07A592-8BA2-EB2A-9764-2723F808B8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793506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28AC6-CF52-05C5-8B20-0C5E7C7C1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40C14E5-DD49-2AED-3EF2-DFFA53503A0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6E6120-4589-735E-27AF-12035D1212C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0F6EA7C-11B3-5AB9-2E10-5C2326B9B6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C8711D9-3972-D71F-73C8-CE5D9D2F33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 dirty="0" err="1">
                <a:solidFill>
                  <a:srgbClr val="000000"/>
                </a:solidFill>
              </a:rPr>
              <a:t>单击此处添加文本</a:t>
            </a:r>
            <a:endParaRPr lang="en-US" sz="12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414608-C7E2-32F1-3FCB-C47E657A24F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411814-8814-22A2-B919-E7A2E2000B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51780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82B2AD-F984-29CA-6B9D-DE2BC593A8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C1F200-F22A-1730-E711-3B4B3A84A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18C8CE-2ACD-A46A-0512-D820C4E5A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CF02-72F2-E34D-AF29-186E84235ADD}" type="datetimeFigureOut">
              <a:rPr kumimoji="1" lang="zh-CN" altLang="en-US" smtClean="0"/>
              <a:t>2026/6/7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D032F4-8CC6-D905-B9DC-3212D1B03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77DD2A-F9AB-87FB-EFE9-DA4A1C321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0596-21FF-C646-920B-DCB6AFC707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24570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F3CE66-B988-F82E-7DF5-A4329FC63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ACC619-F7BD-E53F-D740-9B3BFF07F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C89C08-4956-CAE9-765F-A54982C27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CF02-72F2-E34D-AF29-186E84235ADD}" type="datetimeFigureOut">
              <a:rPr kumimoji="1" lang="zh-CN" altLang="en-US" smtClean="0"/>
              <a:t>2026/6/7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B6C5F6-AF3C-0378-501E-7C8CA947D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05C8C1-F85F-AA3B-85CE-966DBC90A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0596-21FF-C646-920B-DCB6AFC707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3019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8C047A-16DB-32D4-5818-7DED6C94D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122AB7-2189-237A-0662-E2D791DEDD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042528-79C1-5778-9CCD-6F3DF8D3E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CF02-72F2-E34D-AF29-186E84235ADD}" type="datetimeFigureOut">
              <a:rPr kumimoji="1" lang="zh-CN" altLang="en-US" smtClean="0"/>
              <a:t>2026/6/7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26DE6F-7069-9393-0C9B-295FA16AA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C2293B-EF66-9DB6-04B7-38DD68856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0596-21FF-C646-920B-DCB6AFC707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0561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C7DABB-C2C9-4166-734D-1A4DD4DAB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F06737-8B4D-06EC-0AAC-65B2AD1E57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98BEB39-72C3-F81A-33F0-33ED44E5B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172C85-E734-1B6B-8FC8-C4ACED0C8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CF02-72F2-E34D-AF29-186E84235ADD}" type="datetimeFigureOut">
              <a:rPr kumimoji="1" lang="zh-CN" altLang="en-US" smtClean="0"/>
              <a:t>2026/6/7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D1306E-1028-B070-42DC-3D58D570A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6553E5-BB0A-B197-4564-006F57FCB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0596-21FF-C646-920B-DCB6AFC707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33160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218A22-B4B4-BC91-05D8-874570DC0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09E358-AB46-943E-2B08-9C7DA85AD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DF37CA2-6ED3-07EE-4846-CEE8140C4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2158B86-0B90-560E-3C08-13A47689D2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2B81677-85D6-E857-BD30-1BD5B5584F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3CA60F3-CA38-2989-7782-7516282DE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CF02-72F2-E34D-AF29-186E84235ADD}" type="datetimeFigureOut">
              <a:rPr kumimoji="1" lang="zh-CN" altLang="en-US" smtClean="0"/>
              <a:t>2026/6/7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F5069C2-4089-60FD-CE2A-721D821BA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9366115-6EAB-5562-34CB-7119346B9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0596-21FF-C646-920B-DCB6AFC707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96684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708438-F52D-BB6A-8661-00EDBA6A6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38D66A0-DC3A-5A1A-7E48-8EBE62859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CF02-72F2-E34D-AF29-186E84235ADD}" type="datetimeFigureOut">
              <a:rPr kumimoji="1" lang="zh-CN" altLang="en-US" smtClean="0"/>
              <a:t>2026/6/7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CACE495-E654-A84B-FF1F-BE8BC33F9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1B074B-76F5-E8CC-64CA-320D20D7D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0596-21FF-C646-920B-DCB6AFC707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02195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CFCD1B3-3783-F1E4-ACC7-639B69704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CF02-72F2-E34D-AF29-186E84235ADD}" type="datetimeFigureOut">
              <a:rPr kumimoji="1" lang="zh-CN" altLang="en-US" smtClean="0"/>
              <a:t>2026/6/7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F91F19E-743A-49F2-3B45-6639570FB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54F5E8-72BB-C65B-ED79-64B451B9B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0596-21FF-C646-920B-DCB6AFC707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4154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591677-126A-3774-2178-41609E621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6650AA-C5AF-1127-9A17-3E4B6B9A5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9F758E4-7D0B-58E3-5053-5D4010DDF5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6A5069-7734-4C9F-8864-2E25268A6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CF02-72F2-E34D-AF29-186E84235ADD}" type="datetimeFigureOut">
              <a:rPr kumimoji="1" lang="zh-CN" altLang="en-US" smtClean="0"/>
              <a:t>2026/6/7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2C5464-DD84-F0FE-0053-884B41749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F5E5E4-1CE2-FB3A-D367-8E4D4F8D3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0596-21FF-C646-920B-DCB6AFC707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102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975A0C-0BE6-EC9D-C2FB-D18CC720B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E3443AF-A9B6-4FBD-A6AD-52ADD99180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BC72ED-E0B8-6401-734A-20703BDE8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7ABB18-C6EA-C40E-1A43-51FAF4576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CF02-72F2-E34D-AF29-186E84235ADD}" type="datetimeFigureOut">
              <a:rPr kumimoji="1" lang="zh-CN" altLang="en-US" smtClean="0"/>
              <a:t>2026/6/7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915C42-FCA6-0505-10DA-B649779B2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D0507F-8D68-FBBE-BFA3-7A8538C35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0596-21FF-C646-920B-DCB6AFC707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86548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38CB29-F9EF-0FCC-C5A1-5A6704081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CA7DFC-BCDE-6F71-BE07-708724B0D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BE3DDF-7FD5-ACAD-5A7C-23C85247A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CF02-72F2-E34D-AF29-186E84235ADD}" type="datetimeFigureOut">
              <a:rPr kumimoji="1" lang="zh-CN" altLang="en-US" smtClean="0"/>
              <a:t>2026/6/7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A0A825-FAD1-C056-6725-2EBC66CE0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036BCF-56A2-2A50-5117-D313547CB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0596-21FF-C646-920B-DCB6AFC707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84783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31862B6-FE56-DAFD-6B17-7DBC8242A4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76D7BED-F4B4-FBAB-CA5F-DDB48BBBFE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A2078B-B242-DD32-4051-E7F3B731B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CF02-72F2-E34D-AF29-186E84235ADD}" type="datetimeFigureOut">
              <a:rPr kumimoji="1" lang="zh-CN" altLang="en-US" smtClean="0"/>
              <a:t>2026/6/7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4CD3E6-3098-C1C5-5DE4-4B488350A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5D6EC7-E4DD-DA25-8DEE-354B4507E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0596-21FF-C646-920B-DCB6AFC707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65276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9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anchor="ctr">
            <a:noAutofit/>
          </a:bodyPr>
          <a:lstStyle>
            <a:lvl1pPr algn="l">
              <a:lnSpc>
                <a:spcPct val="92000"/>
              </a:lnSpc>
              <a:defRPr sz="4300" b="0" i="0" u="none" strike="noStrike" spc="0">
                <a:solidFill>
                  <a:srgbClr val="000000">
                    <a:alpha val="100000"/>
                  </a:srgbClr>
                </a:solidFill>
                <a:latin typeface="Calibri Light" panose="020F0302020204030204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300" b="0" i="0" u="none" strike="noStrike">
                <a:solidFill>
                  <a:srgbClr val="000000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0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anchor="t">
            <a:noAutofit/>
          </a:bodyPr>
          <a:lstStyle>
            <a:lvl1pPr algn="l">
              <a:lnSpc>
                <a:spcPct val="92000"/>
              </a:lnSpc>
              <a:defRPr sz="27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lvl="0" indent="3429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27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</a:p>
          <a:p>
            <a:pPr marL="269875" lvl="1" indent="3048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</a:p>
          <a:p>
            <a:pPr marL="539750" lvl="2" indent="2413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19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</a:p>
          <a:p>
            <a:pPr marL="810260" lvl="3" indent="2286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</a:p>
          <a:p>
            <a:pPr marL="1080135" lvl="4" indent="2286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71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72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73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</p:spTree>
    <p:extLst>
      <p:ext uri="{BB962C8B-B14F-4D97-AF65-F5344CB8AC3E}">
        <p14:creationId xmlns:p14="http://schemas.microsoft.com/office/powerpoint/2010/main" val="2075468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3EAB5FD-69A4-D62B-7EA1-5AFB2380B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C9B5F8-C681-EA66-F873-8C08B8D5D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DAAE74-4407-CC59-63E3-1A9242E7FD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CF02-72F2-E34D-AF29-186E84235ADD}" type="datetimeFigureOut">
              <a:rPr kumimoji="1" lang="zh-CN" altLang="en-US" smtClean="0"/>
              <a:t>2026/6/7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FA5813-4148-1C2F-AE2D-E36B22029D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CF1DA2-2EFF-6AD7-DF56-A04BB77D3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30596-21FF-C646-920B-DCB6AFC7071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89333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123DC-54AF-063C-0B8F-35EFF125E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655232C-EA12-D584-821D-1974F9FED30B}"/>
              </a:ext>
            </a:extLst>
          </p:cNvPr>
          <p:cNvSpPr/>
          <p:nvPr/>
        </p:nvSpPr>
        <p:spPr>
          <a:xfrm>
            <a:off x="-12700" y="18256"/>
            <a:ext cx="5329451" cy="66278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591BBE4-7625-55FF-04D8-23903E2C812A}"/>
              </a:ext>
            </a:extLst>
          </p:cNvPr>
          <p:cNvGrpSpPr/>
          <p:nvPr/>
        </p:nvGrpSpPr>
        <p:grpSpPr>
          <a:xfrm>
            <a:off x="10417331" y="470173"/>
            <a:ext cx="1568953" cy="409337"/>
            <a:chOff x="10423287" y="375693"/>
            <a:chExt cx="1568953" cy="409337"/>
          </a:xfrm>
        </p:grpSpPr>
        <p:pic>
          <p:nvPicPr>
            <p:cNvPr id="4" name="Picture 4">
              <a:extLst>
                <a:ext uri="{FF2B5EF4-FFF2-40B4-BE49-F238E27FC236}">
                  <a16:creationId xmlns:a16="http://schemas.microsoft.com/office/drawing/2014/main" id="{6192F3B7-49DD-5B60-BCDF-A8A17731B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423287" y="375693"/>
              <a:ext cx="409336" cy="409336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>
              <a:extLst>
                <a:ext uri="{FF2B5EF4-FFF2-40B4-BE49-F238E27FC236}">
                  <a16:creationId xmlns:a16="http://schemas.microsoft.com/office/drawing/2014/main" id="{FB7C8EB8-9B78-B699-C99F-3DBB40474E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1091455" y="450511"/>
              <a:ext cx="900785" cy="237049"/>
            </a:xfrm>
            <a:prstGeom prst="rect">
              <a:avLst/>
            </a:prstGeom>
            <a:ln w="12700">
              <a:noFill/>
              <a:prstDash val="solid"/>
            </a:ln>
          </p:spPr>
        </p:pic>
        <p:cxnSp>
          <p:nvCxnSpPr>
            <p:cNvPr id="6" name="Connector 6">
              <a:extLst>
                <a:ext uri="{FF2B5EF4-FFF2-40B4-BE49-F238E27FC236}">
                  <a16:creationId xmlns:a16="http://schemas.microsoft.com/office/drawing/2014/main" id="{8C626809-1B3D-FA70-BFED-68DD2D7A6AA7}"/>
                </a:ext>
              </a:extLst>
            </p:cNvPr>
            <p:cNvCxnSpPr/>
            <p:nvPr/>
          </p:nvCxnSpPr>
          <p:spPr>
            <a:xfrm rot="-2700000" flipV="1">
              <a:off x="10808795" y="435640"/>
              <a:ext cx="289444" cy="289444"/>
            </a:xfrm>
            <a:prstGeom prst="line">
              <a:avLst/>
            </a:prstGeom>
            <a:noFill/>
            <a:ln w="12700" cap="flat">
              <a:solidFill>
                <a:srgbClr val="00000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id="7" name="AutoShape 7">
            <a:extLst>
              <a:ext uri="{FF2B5EF4-FFF2-40B4-BE49-F238E27FC236}">
                <a16:creationId xmlns:a16="http://schemas.microsoft.com/office/drawing/2014/main" id="{FEDCE957-B733-5E9F-CF1E-82514E74F74D}"/>
              </a:ext>
            </a:extLst>
          </p:cNvPr>
          <p:cNvSpPr/>
          <p:nvPr/>
        </p:nvSpPr>
        <p:spPr>
          <a:xfrm>
            <a:off x="199760" y="195898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D1241856-DC9F-3733-C71D-5CE4A137B705}"/>
              </a:ext>
            </a:extLst>
          </p:cNvPr>
          <p:cNvSpPr/>
          <p:nvPr/>
        </p:nvSpPr>
        <p:spPr>
          <a:xfrm>
            <a:off x="-12700" y="29563"/>
            <a:ext cx="10278024" cy="873312"/>
          </a:xfrm>
          <a:prstGeom prst="rect">
            <a:avLst/>
          </a:prstGeom>
          <a:solidFill>
            <a:srgbClr val="FFC000"/>
          </a:solidFill>
          <a:ln w="12700" cap="flat">
            <a:noFill/>
            <a:prstDash val="solid"/>
          </a:ln>
          <a:effectLst>
            <a:outerShdw blurRad="38100" dist="38100" dir="2700000" algn="tr" rotWithShape="0">
              <a:srgbClr val="000000">
                <a:alpha val="40000"/>
              </a:srgbClr>
            </a:outerShdw>
          </a:effectLst>
        </p:spPr>
        <p:txBody>
          <a:bodyPr lIns="95250" tIns="47625" rIns="95250" bIns="47625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EA92B11F-046D-8574-2198-9D3788ADC185}"/>
              </a:ext>
            </a:extLst>
          </p:cNvPr>
          <p:cNvSpPr/>
          <p:nvPr/>
        </p:nvSpPr>
        <p:spPr>
          <a:xfrm>
            <a:off x="199760" y="239867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F581B28B-7CD8-23B6-636A-337943A19E7A}"/>
              </a:ext>
            </a:extLst>
          </p:cNvPr>
          <p:cNvSpPr/>
          <p:nvPr/>
        </p:nvSpPr>
        <p:spPr>
          <a:xfrm>
            <a:off x="205716" y="49969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污染物数据库（曾博义）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B094D5D-CF6E-9B9B-A260-513B35825C40}"/>
              </a:ext>
            </a:extLst>
          </p:cNvPr>
          <p:cNvSpPr txBox="1"/>
          <p:nvPr/>
        </p:nvSpPr>
        <p:spPr>
          <a:xfrm>
            <a:off x="1860884" y="1351508"/>
            <a:ext cx="4685898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kumimoji="1" lang="zh-CN" altLang="en-US" sz="3600" dirty="0">
                <a:solidFill>
                  <a:srgbClr val="FF0000"/>
                </a:solidFill>
              </a:rPr>
              <a:t>数据库信息</a:t>
            </a:r>
            <a:endParaRPr kumimoji="1" lang="en-US" altLang="zh-CN" sz="3600" dirty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kumimoji="1" lang="en-US" altLang="zh-CN" sz="3600" dirty="0"/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3600" dirty="0"/>
              <a:t>论文调研</a:t>
            </a:r>
            <a:endParaRPr kumimoji="1" lang="en-US" altLang="zh-CN" sz="3600" dirty="0"/>
          </a:p>
          <a:p>
            <a:pPr marL="342900" indent="-342900">
              <a:buFont typeface="+mj-lt"/>
              <a:buAutoNum type="arabicPeriod"/>
            </a:pPr>
            <a:endParaRPr kumimoji="1" lang="en-US" altLang="zh-CN" sz="3600" dirty="0"/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3600" dirty="0"/>
              <a:t>已有关系预测结果</a:t>
            </a:r>
            <a:endParaRPr kumimoji="1" lang="en-US" altLang="zh-CN" sz="3600" dirty="0"/>
          </a:p>
          <a:p>
            <a:pPr marL="342900" indent="-342900">
              <a:buFont typeface="+mj-lt"/>
              <a:buAutoNum type="arabicPeriod"/>
            </a:pPr>
            <a:endParaRPr kumimoji="1" lang="en-US" altLang="zh-CN" sz="3600" dirty="0"/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3600" dirty="0"/>
              <a:t>新增关系文献支持率</a:t>
            </a:r>
          </a:p>
        </p:txBody>
      </p:sp>
    </p:spTree>
    <p:extLst>
      <p:ext uri="{BB962C8B-B14F-4D97-AF65-F5344CB8AC3E}">
        <p14:creationId xmlns:p14="http://schemas.microsoft.com/office/powerpoint/2010/main" val="2387461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720D7-1A32-A51F-79F7-41FE1AFB7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9ACF662-C4EC-38B1-E011-EC80FBCEA14B}"/>
              </a:ext>
            </a:extLst>
          </p:cNvPr>
          <p:cNvSpPr/>
          <p:nvPr/>
        </p:nvSpPr>
        <p:spPr>
          <a:xfrm>
            <a:off x="-12700" y="18256"/>
            <a:ext cx="5329451" cy="66278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AE4975D-E9E1-148E-C8C4-61CDBC1A34F7}"/>
              </a:ext>
            </a:extLst>
          </p:cNvPr>
          <p:cNvGrpSpPr/>
          <p:nvPr/>
        </p:nvGrpSpPr>
        <p:grpSpPr>
          <a:xfrm>
            <a:off x="10417331" y="470173"/>
            <a:ext cx="1568953" cy="409337"/>
            <a:chOff x="10423287" y="375693"/>
            <a:chExt cx="1568953" cy="409337"/>
          </a:xfrm>
        </p:grpSpPr>
        <p:pic>
          <p:nvPicPr>
            <p:cNvPr id="4" name="Picture 4">
              <a:extLst>
                <a:ext uri="{FF2B5EF4-FFF2-40B4-BE49-F238E27FC236}">
                  <a16:creationId xmlns:a16="http://schemas.microsoft.com/office/drawing/2014/main" id="{8B8678EE-A53D-8455-88A9-1D3062182B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423287" y="375693"/>
              <a:ext cx="409336" cy="409336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>
              <a:extLst>
                <a:ext uri="{FF2B5EF4-FFF2-40B4-BE49-F238E27FC236}">
                  <a16:creationId xmlns:a16="http://schemas.microsoft.com/office/drawing/2014/main" id="{F3CB5748-9434-4C56-1680-04C71A4E7D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1091455" y="450511"/>
              <a:ext cx="900785" cy="237049"/>
            </a:xfrm>
            <a:prstGeom prst="rect">
              <a:avLst/>
            </a:prstGeom>
            <a:ln w="12700">
              <a:noFill/>
              <a:prstDash val="solid"/>
            </a:ln>
          </p:spPr>
        </p:pic>
        <p:cxnSp>
          <p:nvCxnSpPr>
            <p:cNvPr id="6" name="Connector 6">
              <a:extLst>
                <a:ext uri="{FF2B5EF4-FFF2-40B4-BE49-F238E27FC236}">
                  <a16:creationId xmlns:a16="http://schemas.microsoft.com/office/drawing/2014/main" id="{30176C86-EF03-9C45-6BB7-EE9ECE3A582C}"/>
                </a:ext>
              </a:extLst>
            </p:cNvPr>
            <p:cNvCxnSpPr/>
            <p:nvPr/>
          </p:nvCxnSpPr>
          <p:spPr>
            <a:xfrm rot="-2700000" flipV="1">
              <a:off x="10808795" y="435640"/>
              <a:ext cx="289444" cy="289444"/>
            </a:xfrm>
            <a:prstGeom prst="line">
              <a:avLst/>
            </a:prstGeom>
            <a:noFill/>
            <a:ln w="12700" cap="flat">
              <a:solidFill>
                <a:srgbClr val="00000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id="7" name="AutoShape 7">
            <a:extLst>
              <a:ext uri="{FF2B5EF4-FFF2-40B4-BE49-F238E27FC236}">
                <a16:creationId xmlns:a16="http://schemas.microsoft.com/office/drawing/2014/main" id="{202EA6B5-ECCA-4D9F-9028-8B354E6AA656}"/>
              </a:ext>
            </a:extLst>
          </p:cNvPr>
          <p:cNvSpPr/>
          <p:nvPr/>
        </p:nvSpPr>
        <p:spPr>
          <a:xfrm>
            <a:off x="199760" y="195898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144A05C4-ED5F-223D-83EC-2785F5CECA8A}"/>
              </a:ext>
            </a:extLst>
          </p:cNvPr>
          <p:cNvSpPr/>
          <p:nvPr/>
        </p:nvSpPr>
        <p:spPr>
          <a:xfrm>
            <a:off x="-12700" y="190442"/>
            <a:ext cx="10278024" cy="873312"/>
          </a:xfrm>
          <a:prstGeom prst="rect">
            <a:avLst/>
          </a:prstGeom>
          <a:solidFill>
            <a:srgbClr val="FFC000"/>
          </a:solidFill>
          <a:ln w="12700" cap="flat">
            <a:noFill/>
            <a:prstDash val="solid"/>
          </a:ln>
          <a:effectLst>
            <a:outerShdw blurRad="38100" dist="38100" dir="2700000" algn="tr" rotWithShape="0">
              <a:srgbClr val="000000">
                <a:alpha val="40000"/>
              </a:srgbClr>
            </a:outerShdw>
          </a:effectLst>
        </p:spPr>
        <p:txBody>
          <a:bodyPr lIns="95250" tIns="47625" rIns="95250" bIns="47625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8F20460B-2F8F-FF9D-A743-680DD04B0EBF}"/>
              </a:ext>
            </a:extLst>
          </p:cNvPr>
          <p:cNvSpPr/>
          <p:nvPr/>
        </p:nvSpPr>
        <p:spPr>
          <a:xfrm>
            <a:off x="199760" y="239867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A33EEEB2-303B-26E9-E341-A93AEB4E9C22}"/>
              </a:ext>
            </a:extLst>
          </p:cNvPr>
          <p:cNvSpPr/>
          <p:nvPr/>
        </p:nvSpPr>
        <p:spPr>
          <a:xfrm>
            <a:off x="193804" y="265568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污染物数据库（曾博义）</a:t>
            </a: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79B3C368-4D6B-1892-436C-6370123699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855562"/>
              </p:ext>
            </p:extLst>
          </p:nvPr>
        </p:nvGraphicFramePr>
        <p:xfrm>
          <a:off x="99880" y="1661132"/>
          <a:ext cx="7420132" cy="176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9978">
                  <a:extLst>
                    <a:ext uri="{9D8B030D-6E8A-4147-A177-3AD203B41FA5}">
                      <a16:colId xmlns:a16="http://schemas.microsoft.com/office/drawing/2014/main" val="51853320"/>
                    </a:ext>
                  </a:extLst>
                </a:gridCol>
                <a:gridCol w="1872038">
                  <a:extLst>
                    <a:ext uri="{9D8B030D-6E8A-4147-A177-3AD203B41FA5}">
                      <a16:colId xmlns:a16="http://schemas.microsoft.com/office/drawing/2014/main" val="2323678717"/>
                    </a:ext>
                  </a:extLst>
                </a:gridCol>
                <a:gridCol w="1487920">
                  <a:extLst>
                    <a:ext uri="{9D8B030D-6E8A-4147-A177-3AD203B41FA5}">
                      <a16:colId xmlns:a16="http://schemas.microsoft.com/office/drawing/2014/main" val="2520282162"/>
                    </a:ext>
                  </a:extLst>
                </a:gridCol>
                <a:gridCol w="2380196">
                  <a:extLst>
                    <a:ext uri="{9D8B030D-6E8A-4147-A177-3AD203B41FA5}">
                      <a16:colId xmlns:a16="http://schemas.microsoft.com/office/drawing/2014/main" val="1990458592"/>
                    </a:ext>
                  </a:extLst>
                </a:gridCol>
              </a:tblGrid>
              <a:tr h="264958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数据库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数据来源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/>
                        <a:t>数据条数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数据字段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173132"/>
                  </a:ext>
                </a:extLst>
              </a:tr>
              <a:tr h="520126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CTD </a:t>
                      </a:r>
                      <a:r>
                        <a:rPr lang="zh-CN" altLang="en-US" sz="1400" dirty="0"/>
                        <a:t>数据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根据化合物和基因关系推断、</a:t>
                      </a:r>
                      <a:r>
                        <a:rPr lang="en" altLang="zh-CN" sz="1400" dirty="0"/>
                        <a:t>PubMed </a:t>
                      </a:r>
                      <a:r>
                        <a:rPr lang="zh-CN" altLang="en" sz="1400" dirty="0"/>
                        <a:t>文献</a:t>
                      </a:r>
                      <a:r>
                        <a:rPr lang="zh-CN" altLang="en-US" sz="1400" dirty="0"/>
                        <a:t>获取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9546982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/>
                        <a:t>有直接证据的条目：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108217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化合物、疾病、推断基因、</a:t>
                      </a:r>
                      <a:r>
                        <a:rPr lang="en-US" altLang="zh-CN" sz="1400" dirty="0"/>
                        <a:t>PubMed </a:t>
                      </a:r>
                      <a:r>
                        <a:rPr lang="zh-CN" altLang="en-US" sz="1400" dirty="0"/>
                        <a:t>文献</a:t>
                      </a:r>
                      <a:r>
                        <a:rPr lang="en-US" altLang="zh-CN" sz="1400"/>
                        <a:t> id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1415485"/>
                  </a:ext>
                </a:extLst>
              </a:tr>
              <a:tr h="520126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疾病污染物数据库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从流调文献获取，人工抽取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3125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污染物、浓度、疾病</a:t>
                      </a:r>
                      <a:r>
                        <a:rPr lang="en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值、疾病</a:t>
                      </a:r>
                      <a:r>
                        <a:rPr lang="en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值、地区、年龄、性别等字段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793193"/>
                  </a:ext>
                </a:extLst>
              </a:tr>
            </a:tbl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45EB8458-86FC-1CC9-E5C0-387089FB2BD5}"/>
              </a:ext>
            </a:extLst>
          </p:cNvPr>
          <p:cNvSpPr txBox="1"/>
          <p:nvPr/>
        </p:nvSpPr>
        <p:spPr>
          <a:xfrm>
            <a:off x="99880" y="125931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数据库信息：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A68B92E7-3E67-0FF0-8DD4-4AA385C8A8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843882"/>
              </p:ext>
            </p:extLst>
          </p:nvPr>
        </p:nvGraphicFramePr>
        <p:xfrm>
          <a:off x="9124582" y="4534581"/>
          <a:ext cx="2398426" cy="2232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9834">
                  <a:extLst>
                    <a:ext uri="{9D8B030D-6E8A-4147-A177-3AD203B41FA5}">
                      <a16:colId xmlns:a16="http://schemas.microsoft.com/office/drawing/2014/main" val="711483786"/>
                    </a:ext>
                  </a:extLst>
                </a:gridCol>
                <a:gridCol w="706659">
                  <a:extLst>
                    <a:ext uri="{9D8B030D-6E8A-4147-A177-3AD203B41FA5}">
                      <a16:colId xmlns:a16="http://schemas.microsoft.com/office/drawing/2014/main" val="4132533459"/>
                    </a:ext>
                  </a:extLst>
                </a:gridCol>
                <a:gridCol w="691933">
                  <a:extLst>
                    <a:ext uri="{9D8B030D-6E8A-4147-A177-3AD203B41FA5}">
                      <a16:colId xmlns:a16="http://schemas.microsoft.com/office/drawing/2014/main" val="4117582630"/>
                    </a:ext>
                  </a:extLst>
                </a:gridCol>
              </a:tblGrid>
              <a:tr h="330087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Method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dirty="0"/>
                        <a:t>GCN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dirty="0"/>
                        <a:t>MLP</a:t>
                      </a:r>
                      <a:endParaRPr lang="zh-CN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9743062"/>
                  </a:ext>
                </a:extLst>
              </a:tr>
              <a:tr h="530651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800" dirty="0"/>
                        <a:t>Acc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dirty="0"/>
                        <a:t>0.96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dirty="0"/>
                        <a:t>0.94</a:t>
                      </a:r>
                      <a:endParaRPr lang="zh-CN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1682851"/>
                  </a:ext>
                </a:extLst>
              </a:tr>
              <a:tr h="530651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800" dirty="0"/>
                        <a:t>Recall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dirty="0"/>
                        <a:t>0.88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dirty="0"/>
                        <a:t>0.94</a:t>
                      </a:r>
                      <a:endParaRPr lang="zh-CN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771189"/>
                  </a:ext>
                </a:extLst>
              </a:tr>
              <a:tr h="530651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800" dirty="0"/>
                        <a:t>F1 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dirty="0"/>
                        <a:t>0.74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dirty="0"/>
                        <a:t>0.94</a:t>
                      </a:r>
                      <a:endParaRPr lang="zh-CN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855879"/>
                  </a:ext>
                </a:extLst>
              </a:tr>
            </a:tbl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43F4E760-4DAE-82DE-2036-2ADA638CF895}"/>
              </a:ext>
            </a:extLst>
          </p:cNvPr>
          <p:cNvSpPr txBox="1"/>
          <p:nvPr/>
        </p:nvSpPr>
        <p:spPr>
          <a:xfrm>
            <a:off x="8485468" y="3699342"/>
            <a:ext cx="37332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在</a:t>
            </a:r>
            <a:r>
              <a:rPr kumimoji="1" lang="en-US" altLang="zh-CN" dirty="0"/>
              <a:t> CTD</a:t>
            </a:r>
            <a:r>
              <a:rPr kumimoji="1" lang="zh-CN" altLang="en-US" dirty="0"/>
              <a:t>有直接证据的 </a:t>
            </a:r>
            <a:r>
              <a:rPr kumimoji="1" lang="en-US" altLang="zh-CN" dirty="0"/>
              <a:t>108217 </a:t>
            </a:r>
            <a:r>
              <a:rPr kumimoji="1" lang="zh-CN" altLang="en-US" dirty="0"/>
              <a:t>条关系</a:t>
            </a:r>
            <a:endParaRPr kumimoji="1" lang="en-US" altLang="zh-CN" dirty="0"/>
          </a:p>
          <a:p>
            <a:r>
              <a:rPr kumimoji="1" lang="zh-CN" altLang="en-US" dirty="0"/>
              <a:t>数据上，两类关系预测的结果：</a:t>
            </a: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05C0555F-F597-39E6-E80F-94007377E0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061947"/>
              </p:ext>
            </p:extLst>
          </p:nvPr>
        </p:nvGraphicFramePr>
        <p:xfrm>
          <a:off x="7815036" y="1838284"/>
          <a:ext cx="4116864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216">
                  <a:extLst>
                    <a:ext uri="{9D8B030D-6E8A-4147-A177-3AD203B41FA5}">
                      <a16:colId xmlns:a16="http://schemas.microsoft.com/office/drawing/2014/main" val="2128371514"/>
                    </a:ext>
                  </a:extLst>
                </a:gridCol>
                <a:gridCol w="1029216">
                  <a:extLst>
                    <a:ext uri="{9D8B030D-6E8A-4147-A177-3AD203B41FA5}">
                      <a16:colId xmlns:a16="http://schemas.microsoft.com/office/drawing/2014/main" val="2504218399"/>
                    </a:ext>
                  </a:extLst>
                </a:gridCol>
                <a:gridCol w="1029216">
                  <a:extLst>
                    <a:ext uri="{9D8B030D-6E8A-4147-A177-3AD203B41FA5}">
                      <a16:colId xmlns:a16="http://schemas.microsoft.com/office/drawing/2014/main" val="4019741230"/>
                    </a:ext>
                  </a:extLst>
                </a:gridCol>
                <a:gridCol w="1029216">
                  <a:extLst>
                    <a:ext uri="{9D8B030D-6E8A-4147-A177-3AD203B41FA5}">
                      <a16:colId xmlns:a16="http://schemas.microsoft.com/office/drawing/2014/main" val="2239240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Method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Accuracy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F1</a:t>
                      </a:r>
                      <a:r>
                        <a:rPr lang="en-US" altLang="zh-CN" dirty="0"/>
                        <a:t>-Score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570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GCN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dirty="0"/>
                        <a:t>0.7520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dirty="0"/>
                        <a:t>0.7096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dirty="0"/>
                        <a:t>0.6462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074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MLP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0.7716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0.7170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0.7211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889495"/>
                  </a:ext>
                </a:extLst>
              </a:tr>
            </a:tbl>
          </a:graphicData>
        </a:graphic>
      </p:graphicFrame>
      <p:sp>
        <p:nvSpPr>
          <p:cNvPr id="22" name="文本框 21">
            <a:extLst>
              <a:ext uri="{FF2B5EF4-FFF2-40B4-BE49-F238E27FC236}">
                <a16:creationId xmlns:a16="http://schemas.microsoft.com/office/drawing/2014/main" id="{545F0373-0F31-A78A-BACE-4905799E7527}"/>
              </a:ext>
            </a:extLst>
          </p:cNvPr>
          <p:cNvSpPr txBox="1"/>
          <p:nvPr/>
        </p:nvSpPr>
        <p:spPr>
          <a:xfrm>
            <a:off x="7505022" y="1468952"/>
            <a:ext cx="4824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有直接证据的</a:t>
            </a:r>
            <a:r>
              <a:rPr kumimoji="1" lang="en-US" altLang="zh-CN" dirty="0"/>
              <a:t> CTD </a:t>
            </a:r>
            <a:r>
              <a:rPr kumimoji="1" lang="zh-CN" altLang="en-US" dirty="0"/>
              <a:t>上，多类别关系预测结果：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4B3DBBA-F6FC-EAFC-7DFD-02B59FB6EAC1}"/>
              </a:ext>
            </a:extLst>
          </p:cNvPr>
          <p:cNvSpPr txBox="1"/>
          <p:nvPr/>
        </p:nvSpPr>
        <p:spPr>
          <a:xfrm>
            <a:off x="-12700" y="3428972"/>
            <a:ext cx="85539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论文：</a:t>
            </a:r>
            <a:r>
              <a:rPr lang="en" altLang="zh-CN" dirty="0"/>
              <a:t> </a:t>
            </a:r>
          </a:p>
          <a:p>
            <a:r>
              <a:rPr lang="en" altLang="zh-CN" dirty="0"/>
              <a:t>Predicting drug–disease associations through layer</a:t>
            </a:r>
            <a:r>
              <a:rPr lang="zh-CN" altLang="en-US" dirty="0"/>
              <a:t> </a:t>
            </a:r>
            <a:r>
              <a:rPr lang="en" altLang="zh-CN" dirty="0"/>
              <a:t>attention graph convolutional network</a:t>
            </a:r>
          </a:p>
          <a:p>
            <a:r>
              <a:rPr lang="zh-CN" altLang="en-US" dirty="0"/>
              <a:t>利用</a:t>
            </a:r>
            <a:r>
              <a:rPr lang="en-US" altLang="zh-CN" dirty="0"/>
              <a:t> CTD</a:t>
            </a:r>
            <a:r>
              <a:rPr lang="zh-CN" altLang="en-US" dirty="0"/>
              <a:t>、</a:t>
            </a:r>
            <a:r>
              <a:rPr lang="en" altLang="zh-CN" dirty="0" err="1"/>
              <a:t>DrugBank</a:t>
            </a:r>
            <a:r>
              <a:rPr lang="zh-CN" altLang="en-US" dirty="0"/>
              <a:t>和</a:t>
            </a:r>
            <a:r>
              <a:rPr lang="en-US" altLang="zh-CN" dirty="0" err="1"/>
              <a:t>MeSH</a:t>
            </a:r>
            <a:r>
              <a:rPr lang="en-US" altLang="zh-CN" dirty="0"/>
              <a:t> </a:t>
            </a:r>
            <a:r>
              <a:rPr lang="zh-CN" altLang="en-US" dirty="0"/>
              <a:t>数据，进行药物疾病之间关系的预测</a:t>
            </a:r>
            <a:endParaRPr lang="en-US" altLang="zh-CN" dirty="0"/>
          </a:p>
          <a:p>
            <a:r>
              <a:rPr lang="en" altLang="zh-CN" dirty="0"/>
              <a:t>MRDDA: a multi-relational graph neural</a:t>
            </a:r>
            <a:r>
              <a:rPr lang="zh-CN" altLang="en-US" dirty="0"/>
              <a:t> </a:t>
            </a:r>
            <a:r>
              <a:rPr lang="en" altLang="zh-CN" dirty="0"/>
              <a:t>network for drug–disease association prediction</a:t>
            </a:r>
          </a:p>
          <a:p>
            <a:r>
              <a:rPr lang="zh-CN" altLang="en" dirty="0"/>
              <a:t>利用</a:t>
            </a:r>
            <a:r>
              <a:rPr lang="en" altLang="zh-CN" dirty="0"/>
              <a:t>CTD </a:t>
            </a:r>
            <a:r>
              <a:rPr lang="zh-CN" altLang="en-US" dirty="0"/>
              <a:t>的药物</a:t>
            </a:r>
            <a:r>
              <a:rPr lang="en-US" altLang="zh-CN" dirty="0"/>
              <a:t>-</a:t>
            </a:r>
            <a:r>
              <a:rPr lang="zh-CN" altLang="en-US" dirty="0"/>
              <a:t>疾病关联、药物</a:t>
            </a:r>
            <a:r>
              <a:rPr lang="en-US" altLang="zh-CN" dirty="0"/>
              <a:t>-</a:t>
            </a:r>
            <a:r>
              <a:rPr lang="zh-CN" altLang="en-US" dirty="0"/>
              <a:t>蛋白质关联，预测药物</a:t>
            </a:r>
            <a:r>
              <a:rPr lang="en-US" altLang="zh-CN" dirty="0"/>
              <a:t>-</a:t>
            </a:r>
            <a:r>
              <a:rPr lang="zh-CN" altLang="en-US" dirty="0"/>
              <a:t>疾病关系</a:t>
            </a:r>
            <a:endParaRPr lang="en" altLang="zh-CN" dirty="0"/>
          </a:p>
          <a:p>
            <a:r>
              <a:rPr lang="en" altLang="zh-CN" dirty="0"/>
              <a:t>Identification of Drug-Disease Associations Using Information of Molecular Structures and Clinical Symptoms via Deep Convolutional Neural Network</a:t>
            </a:r>
          </a:p>
          <a:p>
            <a:r>
              <a:rPr lang="zh-CN" altLang="en-US" dirty="0"/>
              <a:t>使用</a:t>
            </a:r>
            <a:r>
              <a:rPr lang="en-US" altLang="zh-CN" dirty="0"/>
              <a:t>CTD</a:t>
            </a:r>
            <a:r>
              <a:rPr lang="zh-CN" altLang="en-US" dirty="0"/>
              <a:t>数据库中已知的药物</a:t>
            </a:r>
            <a:r>
              <a:rPr lang="en-US" altLang="zh-CN" dirty="0"/>
              <a:t>-</a:t>
            </a:r>
            <a:r>
              <a:rPr lang="zh-CN" altLang="en-US" dirty="0"/>
              <a:t>疾病关联数据，发现新的药物疾病关系</a:t>
            </a:r>
          </a:p>
        </p:txBody>
      </p:sp>
    </p:spTree>
    <p:extLst>
      <p:ext uri="{BB962C8B-B14F-4D97-AF65-F5344CB8AC3E}">
        <p14:creationId xmlns:p14="http://schemas.microsoft.com/office/powerpoint/2010/main" val="3430086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AF2E5-2457-5155-E234-5C7958AFF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84299B8-8AC0-EF58-7849-39FF4F9854AF}"/>
              </a:ext>
            </a:extLst>
          </p:cNvPr>
          <p:cNvSpPr/>
          <p:nvPr/>
        </p:nvSpPr>
        <p:spPr>
          <a:xfrm>
            <a:off x="-12700" y="18256"/>
            <a:ext cx="5329451" cy="66278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5ECA3E0-F537-59EA-43F1-0A4C59C5F8A0}"/>
              </a:ext>
            </a:extLst>
          </p:cNvPr>
          <p:cNvGrpSpPr/>
          <p:nvPr/>
        </p:nvGrpSpPr>
        <p:grpSpPr>
          <a:xfrm>
            <a:off x="10417331" y="470173"/>
            <a:ext cx="1568953" cy="409337"/>
            <a:chOff x="10423287" y="375693"/>
            <a:chExt cx="1568953" cy="409337"/>
          </a:xfrm>
        </p:grpSpPr>
        <p:pic>
          <p:nvPicPr>
            <p:cNvPr id="4" name="Picture 4">
              <a:extLst>
                <a:ext uri="{FF2B5EF4-FFF2-40B4-BE49-F238E27FC236}">
                  <a16:creationId xmlns:a16="http://schemas.microsoft.com/office/drawing/2014/main" id="{0CFF3E4E-268A-FF09-CC9C-D70F99991B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423287" y="375693"/>
              <a:ext cx="409336" cy="409336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>
              <a:extLst>
                <a:ext uri="{FF2B5EF4-FFF2-40B4-BE49-F238E27FC236}">
                  <a16:creationId xmlns:a16="http://schemas.microsoft.com/office/drawing/2014/main" id="{744C18E1-9767-9433-0C2A-414B74BAA3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1091455" y="450511"/>
              <a:ext cx="900785" cy="237049"/>
            </a:xfrm>
            <a:prstGeom prst="rect">
              <a:avLst/>
            </a:prstGeom>
            <a:ln w="12700">
              <a:noFill/>
              <a:prstDash val="solid"/>
            </a:ln>
          </p:spPr>
        </p:pic>
        <p:cxnSp>
          <p:nvCxnSpPr>
            <p:cNvPr id="6" name="Connector 6">
              <a:extLst>
                <a:ext uri="{FF2B5EF4-FFF2-40B4-BE49-F238E27FC236}">
                  <a16:creationId xmlns:a16="http://schemas.microsoft.com/office/drawing/2014/main" id="{666CD5A8-3262-95A3-817A-89076D6389E1}"/>
                </a:ext>
              </a:extLst>
            </p:cNvPr>
            <p:cNvCxnSpPr/>
            <p:nvPr/>
          </p:nvCxnSpPr>
          <p:spPr>
            <a:xfrm rot="-2700000" flipV="1">
              <a:off x="10808795" y="435640"/>
              <a:ext cx="289444" cy="289444"/>
            </a:xfrm>
            <a:prstGeom prst="line">
              <a:avLst/>
            </a:prstGeom>
            <a:noFill/>
            <a:ln w="12700" cap="flat">
              <a:solidFill>
                <a:srgbClr val="00000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id="7" name="AutoShape 7">
            <a:extLst>
              <a:ext uri="{FF2B5EF4-FFF2-40B4-BE49-F238E27FC236}">
                <a16:creationId xmlns:a16="http://schemas.microsoft.com/office/drawing/2014/main" id="{29215983-ED62-34EA-2232-B181C8CA2262}"/>
              </a:ext>
            </a:extLst>
          </p:cNvPr>
          <p:cNvSpPr/>
          <p:nvPr/>
        </p:nvSpPr>
        <p:spPr>
          <a:xfrm>
            <a:off x="199760" y="195898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880A270C-39AD-D624-50A4-0B8172B5A366}"/>
              </a:ext>
            </a:extLst>
          </p:cNvPr>
          <p:cNvSpPr/>
          <p:nvPr/>
        </p:nvSpPr>
        <p:spPr>
          <a:xfrm>
            <a:off x="-12700" y="29563"/>
            <a:ext cx="10278024" cy="873312"/>
          </a:xfrm>
          <a:prstGeom prst="rect">
            <a:avLst/>
          </a:prstGeom>
          <a:solidFill>
            <a:srgbClr val="FFC000"/>
          </a:solidFill>
          <a:ln w="12700" cap="flat">
            <a:noFill/>
            <a:prstDash val="solid"/>
          </a:ln>
          <a:effectLst>
            <a:outerShdw blurRad="38100" dist="38100" dir="2700000" algn="tr" rotWithShape="0">
              <a:srgbClr val="000000">
                <a:alpha val="40000"/>
              </a:srgbClr>
            </a:outerShdw>
          </a:effectLst>
        </p:spPr>
        <p:txBody>
          <a:bodyPr lIns="95250" tIns="47625" rIns="95250" bIns="47625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9F0485A6-0F97-89FE-1775-8BA7F2169EDF}"/>
              </a:ext>
            </a:extLst>
          </p:cNvPr>
          <p:cNvSpPr/>
          <p:nvPr/>
        </p:nvSpPr>
        <p:spPr>
          <a:xfrm>
            <a:off x="199760" y="239867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042D3AE8-0B08-8A73-E9BD-4FE6C8BEC080}"/>
              </a:ext>
            </a:extLst>
          </p:cNvPr>
          <p:cNvSpPr/>
          <p:nvPr/>
        </p:nvSpPr>
        <p:spPr>
          <a:xfrm>
            <a:off x="205716" y="49969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污染物数据库（曾博义）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A6DD5AF-E98D-81CF-176A-12CB148775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954" y="1485446"/>
            <a:ext cx="9936578" cy="2580162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58417AF6-3F23-88B2-1FC4-3862F0B7451B}"/>
              </a:ext>
            </a:extLst>
          </p:cNvPr>
          <p:cNvSpPr txBox="1"/>
          <p:nvPr/>
        </p:nvSpPr>
        <p:spPr>
          <a:xfrm>
            <a:off x="199760" y="1048804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疾病污染物数据库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7427A86A-9BBD-1D7A-135F-AAC5112122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1159" y="4237630"/>
            <a:ext cx="7772400" cy="2424472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A3FA2F13-B0CD-8DB3-0312-093F2E614E86}"/>
              </a:ext>
            </a:extLst>
          </p:cNvPr>
          <p:cNvSpPr txBox="1"/>
          <p:nvPr/>
        </p:nvSpPr>
        <p:spPr>
          <a:xfrm>
            <a:off x="199760" y="4648179"/>
            <a:ext cx="1130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CTD </a:t>
            </a:r>
            <a:r>
              <a:rPr kumimoji="1" lang="zh-CN" altLang="en-US" dirty="0"/>
              <a:t>数据</a:t>
            </a:r>
          </a:p>
        </p:txBody>
      </p:sp>
    </p:spTree>
    <p:extLst>
      <p:ext uri="{BB962C8B-B14F-4D97-AF65-F5344CB8AC3E}">
        <p14:creationId xmlns:p14="http://schemas.microsoft.com/office/powerpoint/2010/main" val="1673362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B4BA5-98F2-B733-60C3-5FB832132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CF55A29-D0AF-E130-5A15-C8AF484BAF16}"/>
              </a:ext>
            </a:extLst>
          </p:cNvPr>
          <p:cNvSpPr/>
          <p:nvPr/>
        </p:nvSpPr>
        <p:spPr>
          <a:xfrm>
            <a:off x="-12700" y="18256"/>
            <a:ext cx="5329451" cy="66278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8409D71-D0AE-90CF-1B4F-F97B9B8BDD61}"/>
              </a:ext>
            </a:extLst>
          </p:cNvPr>
          <p:cNvGrpSpPr/>
          <p:nvPr/>
        </p:nvGrpSpPr>
        <p:grpSpPr>
          <a:xfrm>
            <a:off x="10417331" y="470173"/>
            <a:ext cx="1568953" cy="409337"/>
            <a:chOff x="10423287" y="375693"/>
            <a:chExt cx="1568953" cy="409337"/>
          </a:xfrm>
        </p:grpSpPr>
        <p:pic>
          <p:nvPicPr>
            <p:cNvPr id="4" name="Picture 4">
              <a:extLst>
                <a:ext uri="{FF2B5EF4-FFF2-40B4-BE49-F238E27FC236}">
                  <a16:creationId xmlns:a16="http://schemas.microsoft.com/office/drawing/2014/main" id="{8EBBFECA-5E93-B0B8-7F25-A933877E05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423287" y="375693"/>
              <a:ext cx="409336" cy="409336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>
              <a:extLst>
                <a:ext uri="{FF2B5EF4-FFF2-40B4-BE49-F238E27FC236}">
                  <a16:creationId xmlns:a16="http://schemas.microsoft.com/office/drawing/2014/main" id="{C0DC75BE-17C2-F1EA-7536-F79E2BFED9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1091455" y="450511"/>
              <a:ext cx="900785" cy="237049"/>
            </a:xfrm>
            <a:prstGeom prst="rect">
              <a:avLst/>
            </a:prstGeom>
            <a:ln w="12700">
              <a:noFill/>
              <a:prstDash val="solid"/>
            </a:ln>
          </p:spPr>
        </p:pic>
        <p:cxnSp>
          <p:nvCxnSpPr>
            <p:cNvPr id="6" name="Connector 6">
              <a:extLst>
                <a:ext uri="{FF2B5EF4-FFF2-40B4-BE49-F238E27FC236}">
                  <a16:creationId xmlns:a16="http://schemas.microsoft.com/office/drawing/2014/main" id="{4636C63D-450A-9CD8-074D-352CB56211FC}"/>
                </a:ext>
              </a:extLst>
            </p:cNvPr>
            <p:cNvCxnSpPr/>
            <p:nvPr/>
          </p:nvCxnSpPr>
          <p:spPr>
            <a:xfrm rot="-2700000" flipV="1">
              <a:off x="10808795" y="435640"/>
              <a:ext cx="289444" cy="289444"/>
            </a:xfrm>
            <a:prstGeom prst="line">
              <a:avLst/>
            </a:prstGeom>
            <a:noFill/>
            <a:ln w="12700" cap="flat">
              <a:solidFill>
                <a:srgbClr val="00000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id="7" name="AutoShape 7">
            <a:extLst>
              <a:ext uri="{FF2B5EF4-FFF2-40B4-BE49-F238E27FC236}">
                <a16:creationId xmlns:a16="http://schemas.microsoft.com/office/drawing/2014/main" id="{AC6B1633-E17B-9ABC-C97E-3DB70712B9AC}"/>
              </a:ext>
            </a:extLst>
          </p:cNvPr>
          <p:cNvSpPr/>
          <p:nvPr/>
        </p:nvSpPr>
        <p:spPr>
          <a:xfrm>
            <a:off x="199760" y="195898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02A8F075-1792-0454-35CE-952D5B4FEE70}"/>
              </a:ext>
            </a:extLst>
          </p:cNvPr>
          <p:cNvSpPr/>
          <p:nvPr/>
        </p:nvSpPr>
        <p:spPr>
          <a:xfrm>
            <a:off x="-12700" y="191127"/>
            <a:ext cx="10278024" cy="873312"/>
          </a:xfrm>
          <a:prstGeom prst="rect">
            <a:avLst/>
          </a:prstGeom>
          <a:solidFill>
            <a:srgbClr val="FFC000"/>
          </a:solidFill>
          <a:ln w="12700" cap="flat">
            <a:noFill/>
            <a:prstDash val="solid"/>
          </a:ln>
          <a:effectLst>
            <a:outerShdw blurRad="38100" dist="38100" dir="2700000" algn="tr" rotWithShape="0">
              <a:srgbClr val="000000">
                <a:alpha val="40000"/>
              </a:srgbClr>
            </a:outerShdw>
          </a:effectLst>
        </p:spPr>
        <p:txBody>
          <a:bodyPr lIns="95250" tIns="47625" rIns="95250" bIns="47625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04CC89A9-A6D6-B0C3-95CE-6DCB6D035C8A}"/>
              </a:ext>
            </a:extLst>
          </p:cNvPr>
          <p:cNvSpPr/>
          <p:nvPr/>
        </p:nvSpPr>
        <p:spPr>
          <a:xfrm>
            <a:off x="199760" y="239867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01BD1588-C80F-EDF2-C8FE-5A621775B506}"/>
              </a:ext>
            </a:extLst>
          </p:cNvPr>
          <p:cNvSpPr/>
          <p:nvPr/>
        </p:nvSpPr>
        <p:spPr>
          <a:xfrm>
            <a:off x="205716" y="49969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污染物数据库（曾博义）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EA59F53-C3C8-733A-0537-BE953B88B021}"/>
              </a:ext>
            </a:extLst>
          </p:cNvPr>
          <p:cNvSpPr txBox="1"/>
          <p:nvPr/>
        </p:nvSpPr>
        <p:spPr>
          <a:xfrm>
            <a:off x="121175" y="1445659"/>
            <a:ext cx="106217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从</a:t>
            </a:r>
            <a:r>
              <a:rPr lang="en-US" altLang="zh-CN" dirty="0"/>
              <a:t> CTD </a:t>
            </a:r>
            <a:r>
              <a:rPr lang="zh-CN" altLang="en-US" dirty="0"/>
              <a:t>爬取了疾病和化学品之间的关系数据库，共爬取到</a:t>
            </a:r>
            <a:r>
              <a:rPr lang="en-US" altLang="zh-CN" dirty="0"/>
              <a:t>9546982 </a:t>
            </a:r>
            <a:r>
              <a:rPr lang="zh-CN" altLang="en-US" dirty="0"/>
              <a:t>条关系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参考已有工作，根据推断通路数和支撑文献数量计算推断分数，对数据集进行了进一步过滤处理，</a:t>
            </a:r>
            <a:endParaRPr lang="en-US" altLang="zh-CN" dirty="0"/>
          </a:p>
          <a:p>
            <a:r>
              <a:rPr lang="zh-CN" altLang="en-US" dirty="0"/>
              <a:t>     推断分数大于 </a:t>
            </a:r>
            <a:r>
              <a:rPr lang="en-US" altLang="zh-CN" dirty="0"/>
              <a:t>100 </a:t>
            </a:r>
            <a:r>
              <a:rPr lang="zh-CN" altLang="en-US" dirty="0"/>
              <a:t>和有直接证据的数据分别有 </a:t>
            </a:r>
            <a:r>
              <a:rPr lang="en-US" altLang="zh-CN" dirty="0"/>
              <a:t>395261 </a:t>
            </a:r>
            <a:r>
              <a:rPr lang="zh-CN" altLang="en-US" dirty="0"/>
              <a:t>和 </a:t>
            </a:r>
            <a:r>
              <a:rPr lang="en-US" altLang="zh-CN" dirty="0"/>
              <a:t>108217 </a:t>
            </a:r>
            <a:r>
              <a:rPr lang="zh-CN" altLang="en-US" dirty="0"/>
              <a:t>条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正在爬取基因和疾病数据库，目前已获取到</a:t>
            </a:r>
            <a:r>
              <a:rPr lang="en-US" altLang="zh-CN" dirty="0"/>
              <a:t>34222 </a:t>
            </a:r>
            <a:r>
              <a:rPr lang="zh-CN" altLang="en-US" dirty="0"/>
              <a:t>条关系，基因数量</a:t>
            </a:r>
            <a:r>
              <a:rPr lang="en-US" altLang="zh-CN" dirty="0"/>
              <a:t>: 9111</a:t>
            </a:r>
            <a:r>
              <a:rPr lang="zh-CN" altLang="en-US" dirty="0"/>
              <a:t>，疾病数量</a:t>
            </a:r>
            <a:r>
              <a:rPr lang="en-US" altLang="zh-CN" dirty="0"/>
              <a:t>: 5858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492F0D7-F716-D285-C2B9-35180D5953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5718830"/>
              </p:ext>
            </p:extLst>
          </p:nvPr>
        </p:nvGraphicFramePr>
        <p:xfrm>
          <a:off x="550883" y="2979122"/>
          <a:ext cx="9026310" cy="314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396">
                  <a:extLst>
                    <a:ext uri="{9D8B030D-6E8A-4147-A177-3AD203B41FA5}">
                      <a16:colId xmlns:a16="http://schemas.microsoft.com/office/drawing/2014/main" val="1332531686"/>
                    </a:ext>
                  </a:extLst>
                </a:gridCol>
                <a:gridCol w="1538128">
                  <a:extLst>
                    <a:ext uri="{9D8B030D-6E8A-4147-A177-3AD203B41FA5}">
                      <a16:colId xmlns:a16="http://schemas.microsoft.com/office/drawing/2014/main" val="3684328533"/>
                    </a:ext>
                  </a:extLst>
                </a:gridCol>
                <a:gridCol w="1805262">
                  <a:extLst>
                    <a:ext uri="{9D8B030D-6E8A-4147-A177-3AD203B41FA5}">
                      <a16:colId xmlns:a16="http://schemas.microsoft.com/office/drawing/2014/main" val="562033270"/>
                    </a:ext>
                  </a:extLst>
                </a:gridCol>
                <a:gridCol w="1805262">
                  <a:extLst>
                    <a:ext uri="{9D8B030D-6E8A-4147-A177-3AD203B41FA5}">
                      <a16:colId xmlns:a16="http://schemas.microsoft.com/office/drawing/2014/main" val="1247079954"/>
                    </a:ext>
                  </a:extLst>
                </a:gridCol>
                <a:gridCol w="1805262">
                  <a:extLst>
                    <a:ext uri="{9D8B030D-6E8A-4147-A177-3AD203B41FA5}">
                      <a16:colId xmlns:a16="http://schemas.microsoft.com/office/drawing/2014/main" val="4126065358"/>
                    </a:ext>
                  </a:extLst>
                </a:gridCol>
              </a:tblGrid>
              <a:tr h="393585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疾病化学品数据库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关系数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疾病数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化学品数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关系百分比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418292"/>
                  </a:ext>
                </a:extLst>
              </a:tr>
              <a:tr h="393585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/>
                        <a:t>总数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9546982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7284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17734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5660500"/>
                  </a:ext>
                </a:extLst>
              </a:tr>
              <a:tr h="393585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/>
                        <a:t>推断分数大于 </a:t>
                      </a:r>
                      <a:r>
                        <a:rPr lang="en-US" altLang="zh-CN" b="0" dirty="0"/>
                        <a:t>5</a:t>
                      </a:r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6480509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5838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14829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67.8802%</a:t>
                      </a:r>
                      <a:endParaRPr lang="en-US" altLang="zh-CN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2818400"/>
                  </a:ext>
                </a:extLst>
              </a:tr>
              <a:tr h="3935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0" dirty="0"/>
                        <a:t>推断分数大于 </a:t>
                      </a:r>
                      <a:r>
                        <a:rPr lang="en-US" altLang="zh-CN" b="0" dirty="0"/>
                        <a:t>10</a:t>
                      </a:r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4378110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9520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45.8586%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6490943"/>
                  </a:ext>
                </a:extLst>
              </a:tr>
              <a:tr h="3935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0" dirty="0"/>
                        <a:t>推断分数大于 </a:t>
                      </a:r>
                      <a:r>
                        <a:rPr lang="en-US" altLang="zh-CN" b="0" dirty="0"/>
                        <a:t>25</a:t>
                      </a:r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2101258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507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507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22.0097%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136160"/>
                  </a:ext>
                </a:extLst>
              </a:tr>
              <a:tr h="3935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0" dirty="0"/>
                        <a:t>推断分数大于 </a:t>
                      </a:r>
                      <a:r>
                        <a:rPr lang="en-US" altLang="zh-CN" b="0" dirty="0"/>
                        <a:t>50</a:t>
                      </a:r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1007473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  1718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10.5528%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405645"/>
                  </a:ext>
                </a:extLst>
              </a:tr>
              <a:tr h="3935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0" dirty="0"/>
                        <a:t>推断分数大于 </a:t>
                      </a:r>
                      <a:r>
                        <a:rPr lang="en-US" altLang="zh-CN" b="0" dirty="0"/>
                        <a:t>100</a:t>
                      </a:r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395261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650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4.1402%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853721"/>
                  </a:ext>
                </a:extLst>
              </a:tr>
              <a:tr h="393585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/>
                        <a:t>有直接证据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108217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3320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10622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1.1335%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562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6844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8CC7E-E73F-7E09-9F95-E3AE57E58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45DCEBD-21BE-8BA0-ACBE-F37980B2BD00}"/>
              </a:ext>
            </a:extLst>
          </p:cNvPr>
          <p:cNvSpPr/>
          <p:nvPr/>
        </p:nvSpPr>
        <p:spPr>
          <a:xfrm>
            <a:off x="-12700" y="18256"/>
            <a:ext cx="5329451" cy="66278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28AD275-BDE6-5790-0FE7-BB418AD34E8D}"/>
              </a:ext>
            </a:extLst>
          </p:cNvPr>
          <p:cNvGrpSpPr/>
          <p:nvPr/>
        </p:nvGrpSpPr>
        <p:grpSpPr>
          <a:xfrm>
            <a:off x="10417331" y="470173"/>
            <a:ext cx="1568953" cy="409337"/>
            <a:chOff x="10423287" y="375693"/>
            <a:chExt cx="1568953" cy="409337"/>
          </a:xfrm>
        </p:grpSpPr>
        <p:pic>
          <p:nvPicPr>
            <p:cNvPr id="4" name="Picture 4">
              <a:extLst>
                <a:ext uri="{FF2B5EF4-FFF2-40B4-BE49-F238E27FC236}">
                  <a16:creationId xmlns:a16="http://schemas.microsoft.com/office/drawing/2014/main" id="{0F929750-B336-8FBC-B85B-3C9BCEDD77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423287" y="375693"/>
              <a:ext cx="409336" cy="409336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>
              <a:extLst>
                <a:ext uri="{FF2B5EF4-FFF2-40B4-BE49-F238E27FC236}">
                  <a16:creationId xmlns:a16="http://schemas.microsoft.com/office/drawing/2014/main" id="{F2BB1E2C-E2E0-622D-C825-4E474990B6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1091455" y="450511"/>
              <a:ext cx="900785" cy="237049"/>
            </a:xfrm>
            <a:prstGeom prst="rect">
              <a:avLst/>
            </a:prstGeom>
            <a:ln w="12700">
              <a:noFill/>
              <a:prstDash val="solid"/>
            </a:ln>
          </p:spPr>
        </p:pic>
        <p:cxnSp>
          <p:nvCxnSpPr>
            <p:cNvPr id="6" name="Connector 6">
              <a:extLst>
                <a:ext uri="{FF2B5EF4-FFF2-40B4-BE49-F238E27FC236}">
                  <a16:creationId xmlns:a16="http://schemas.microsoft.com/office/drawing/2014/main" id="{FE2FEE8D-EBF9-32C3-07A3-5074CE7049FC}"/>
                </a:ext>
              </a:extLst>
            </p:cNvPr>
            <p:cNvCxnSpPr/>
            <p:nvPr/>
          </p:nvCxnSpPr>
          <p:spPr>
            <a:xfrm rot="-2700000" flipV="1">
              <a:off x="10808795" y="435640"/>
              <a:ext cx="289444" cy="289444"/>
            </a:xfrm>
            <a:prstGeom prst="line">
              <a:avLst/>
            </a:prstGeom>
            <a:noFill/>
            <a:ln w="12700" cap="flat">
              <a:solidFill>
                <a:srgbClr val="00000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id="7" name="AutoShape 7">
            <a:extLst>
              <a:ext uri="{FF2B5EF4-FFF2-40B4-BE49-F238E27FC236}">
                <a16:creationId xmlns:a16="http://schemas.microsoft.com/office/drawing/2014/main" id="{7E22CB3E-5F12-45AC-3B77-87031D4C4B87}"/>
              </a:ext>
            </a:extLst>
          </p:cNvPr>
          <p:cNvSpPr/>
          <p:nvPr/>
        </p:nvSpPr>
        <p:spPr>
          <a:xfrm>
            <a:off x="199760" y="195898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0CDFAD0D-167F-2D66-DD33-5BA0B36B3FB1}"/>
              </a:ext>
            </a:extLst>
          </p:cNvPr>
          <p:cNvSpPr/>
          <p:nvPr/>
        </p:nvSpPr>
        <p:spPr>
          <a:xfrm>
            <a:off x="-12700" y="29563"/>
            <a:ext cx="10278024" cy="873312"/>
          </a:xfrm>
          <a:prstGeom prst="rect">
            <a:avLst/>
          </a:prstGeom>
          <a:solidFill>
            <a:srgbClr val="FFC000"/>
          </a:solidFill>
          <a:ln w="12700" cap="flat">
            <a:noFill/>
            <a:prstDash val="solid"/>
          </a:ln>
          <a:effectLst>
            <a:outerShdw blurRad="38100" dist="38100" dir="2700000" algn="tr" rotWithShape="0">
              <a:srgbClr val="000000">
                <a:alpha val="40000"/>
              </a:srgbClr>
            </a:outerShdw>
          </a:effectLst>
        </p:spPr>
        <p:txBody>
          <a:bodyPr lIns="95250" tIns="47625" rIns="95250" bIns="47625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EFD5D2F0-738B-4337-6607-B4F4FD53392F}"/>
              </a:ext>
            </a:extLst>
          </p:cNvPr>
          <p:cNvSpPr/>
          <p:nvPr/>
        </p:nvSpPr>
        <p:spPr>
          <a:xfrm>
            <a:off x="199760" y="239867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F6AE053B-C611-F4B5-8F89-CAF6D3000CC8}"/>
              </a:ext>
            </a:extLst>
          </p:cNvPr>
          <p:cNvSpPr/>
          <p:nvPr/>
        </p:nvSpPr>
        <p:spPr>
          <a:xfrm>
            <a:off x="205716" y="49969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污染物数据库（曾博义）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6845EAE-5FC4-1EE6-BA39-3A52C2FECB25}"/>
              </a:ext>
            </a:extLst>
          </p:cNvPr>
          <p:cNvSpPr txBox="1"/>
          <p:nvPr/>
        </p:nvSpPr>
        <p:spPr>
          <a:xfrm>
            <a:off x="1860884" y="1351508"/>
            <a:ext cx="4685898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kumimoji="1" lang="zh-CN" altLang="en-US" sz="3600" dirty="0"/>
              <a:t>数据库信息</a:t>
            </a:r>
            <a:endParaRPr kumimoji="1" lang="en-US" altLang="zh-CN" sz="3600" dirty="0"/>
          </a:p>
          <a:p>
            <a:pPr marL="342900" indent="-342900">
              <a:buFont typeface="+mj-lt"/>
              <a:buAutoNum type="arabicPeriod"/>
            </a:pPr>
            <a:endParaRPr kumimoji="1" lang="en-US" altLang="zh-CN" sz="3600" dirty="0"/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3600" dirty="0">
                <a:solidFill>
                  <a:srgbClr val="FF0000"/>
                </a:solidFill>
              </a:rPr>
              <a:t>论文调研</a:t>
            </a:r>
            <a:endParaRPr kumimoji="1" lang="en-US" altLang="zh-CN" sz="3600" dirty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kumimoji="1" lang="en-US" altLang="zh-CN" sz="3600" dirty="0"/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3600" dirty="0"/>
              <a:t>已有关系预测结果</a:t>
            </a:r>
            <a:endParaRPr kumimoji="1" lang="en-US" altLang="zh-CN" sz="3600" dirty="0"/>
          </a:p>
          <a:p>
            <a:pPr marL="342900" indent="-342900">
              <a:buFont typeface="+mj-lt"/>
              <a:buAutoNum type="arabicPeriod"/>
            </a:pPr>
            <a:endParaRPr kumimoji="1" lang="en-US" altLang="zh-CN" sz="3600" dirty="0"/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3600" dirty="0"/>
              <a:t>新增关系文献支持率</a:t>
            </a:r>
          </a:p>
        </p:txBody>
      </p:sp>
    </p:spTree>
    <p:extLst>
      <p:ext uri="{BB962C8B-B14F-4D97-AF65-F5344CB8AC3E}">
        <p14:creationId xmlns:p14="http://schemas.microsoft.com/office/powerpoint/2010/main" val="1415893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B4BA5-98F2-B733-60C3-5FB832132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CF55A29-D0AF-E130-5A15-C8AF484BAF16}"/>
              </a:ext>
            </a:extLst>
          </p:cNvPr>
          <p:cNvSpPr/>
          <p:nvPr/>
        </p:nvSpPr>
        <p:spPr>
          <a:xfrm>
            <a:off x="-12700" y="18256"/>
            <a:ext cx="5329451" cy="66278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8409D71-D0AE-90CF-1B4F-F97B9B8BDD61}"/>
              </a:ext>
            </a:extLst>
          </p:cNvPr>
          <p:cNvGrpSpPr/>
          <p:nvPr/>
        </p:nvGrpSpPr>
        <p:grpSpPr>
          <a:xfrm>
            <a:off x="10417331" y="470173"/>
            <a:ext cx="1568953" cy="409337"/>
            <a:chOff x="10423287" y="375693"/>
            <a:chExt cx="1568953" cy="409337"/>
          </a:xfrm>
        </p:grpSpPr>
        <p:pic>
          <p:nvPicPr>
            <p:cNvPr id="4" name="Picture 4">
              <a:extLst>
                <a:ext uri="{FF2B5EF4-FFF2-40B4-BE49-F238E27FC236}">
                  <a16:creationId xmlns:a16="http://schemas.microsoft.com/office/drawing/2014/main" id="{8EBBFECA-5E93-B0B8-7F25-A933877E05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423287" y="375693"/>
              <a:ext cx="409336" cy="409336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>
              <a:extLst>
                <a:ext uri="{FF2B5EF4-FFF2-40B4-BE49-F238E27FC236}">
                  <a16:creationId xmlns:a16="http://schemas.microsoft.com/office/drawing/2014/main" id="{C0DC75BE-17C2-F1EA-7536-F79E2BFED9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1091455" y="450511"/>
              <a:ext cx="900785" cy="237049"/>
            </a:xfrm>
            <a:prstGeom prst="rect">
              <a:avLst/>
            </a:prstGeom>
            <a:ln w="12700">
              <a:noFill/>
              <a:prstDash val="solid"/>
            </a:ln>
          </p:spPr>
        </p:pic>
        <p:cxnSp>
          <p:nvCxnSpPr>
            <p:cNvPr id="6" name="Connector 6">
              <a:extLst>
                <a:ext uri="{FF2B5EF4-FFF2-40B4-BE49-F238E27FC236}">
                  <a16:creationId xmlns:a16="http://schemas.microsoft.com/office/drawing/2014/main" id="{4636C63D-450A-9CD8-074D-352CB56211FC}"/>
                </a:ext>
              </a:extLst>
            </p:cNvPr>
            <p:cNvCxnSpPr/>
            <p:nvPr/>
          </p:nvCxnSpPr>
          <p:spPr>
            <a:xfrm rot="-2700000" flipV="1">
              <a:off x="10808795" y="435640"/>
              <a:ext cx="289444" cy="289444"/>
            </a:xfrm>
            <a:prstGeom prst="line">
              <a:avLst/>
            </a:prstGeom>
            <a:noFill/>
            <a:ln w="12700" cap="flat">
              <a:solidFill>
                <a:srgbClr val="00000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id="7" name="AutoShape 7">
            <a:extLst>
              <a:ext uri="{FF2B5EF4-FFF2-40B4-BE49-F238E27FC236}">
                <a16:creationId xmlns:a16="http://schemas.microsoft.com/office/drawing/2014/main" id="{AC6B1633-E17B-9ABC-C97E-3DB70712B9AC}"/>
              </a:ext>
            </a:extLst>
          </p:cNvPr>
          <p:cNvSpPr/>
          <p:nvPr/>
        </p:nvSpPr>
        <p:spPr>
          <a:xfrm>
            <a:off x="199760" y="195898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02A8F075-1792-0454-35CE-952D5B4FEE70}"/>
              </a:ext>
            </a:extLst>
          </p:cNvPr>
          <p:cNvSpPr/>
          <p:nvPr/>
        </p:nvSpPr>
        <p:spPr>
          <a:xfrm>
            <a:off x="-12700" y="29563"/>
            <a:ext cx="10278024" cy="873312"/>
          </a:xfrm>
          <a:prstGeom prst="rect">
            <a:avLst/>
          </a:prstGeom>
          <a:solidFill>
            <a:srgbClr val="FFC000"/>
          </a:solidFill>
          <a:ln w="12700" cap="flat">
            <a:noFill/>
            <a:prstDash val="solid"/>
          </a:ln>
          <a:effectLst>
            <a:outerShdw blurRad="38100" dist="38100" dir="2700000" algn="tr" rotWithShape="0">
              <a:srgbClr val="000000">
                <a:alpha val="40000"/>
              </a:srgbClr>
            </a:outerShdw>
          </a:effectLst>
        </p:spPr>
        <p:txBody>
          <a:bodyPr lIns="95250" tIns="47625" rIns="95250" bIns="47625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04CC89A9-A6D6-B0C3-95CE-6DCB6D035C8A}"/>
              </a:ext>
            </a:extLst>
          </p:cNvPr>
          <p:cNvSpPr/>
          <p:nvPr/>
        </p:nvSpPr>
        <p:spPr>
          <a:xfrm>
            <a:off x="199760" y="239867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01BD1588-C80F-EDF2-C8FE-5A621775B506}"/>
              </a:ext>
            </a:extLst>
          </p:cNvPr>
          <p:cNvSpPr/>
          <p:nvPr/>
        </p:nvSpPr>
        <p:spPr>
          <a:xfrm>
            <a:off x="205716" y="49969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污染物数据库（曾博义）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EA59F53-C3C8-733A-0537-BE953B88B021}"/>
              </a:ext>
            </a:extLst>
          </p:cNvPr>
          <p:cNvSpPr txBox="1"/>
          <p:nvPr/>
        </p:nvSpPr>
        <p:spPr>
          <a:xfrm>
            <a:off x="199760" y="1887859"/>
            <a:ext cx="612064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" dirty="0"/>
              <a:t>论文</a:t>
            </a:r>
            <a:r>
              <a:rPr lang="en" altLang="zh-CN" dirty="0"/>
              <a:t>MRDDA: a multi-relational graph neural</a:t>
            </a:r>
          </a:p>
          <a:p>
            <a:r>
              <a:rPr lang="en" altLang="zh-CN" dirty="0"/>
              <a:t>network for drug–disease association prediction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通过整合药物、疾病、基因、蛋白质等实体相互作用关系，基于图神经网络构建了新的模型</a:t>
            </a:r>
            <a:r>
              <a:rPr lang="en" altLang="zh-CN" dirty="0"/>
              <a:t>MRDDA</a:t>
            </a:r>
            <a:r>
              <a:rPr lang="zh-CN" altLang="en-US" dirty="0"/>
              <a:t>，对药物</a:t>
            </a:r>
            <a:r>
              <a:rPr lang="en-US" altLang="zh-CN" dirty="0"/>
              <a:t>-</a:t>
            </a:r>
            <a:r>
              <a:rPr lang="zh-CN" altLang="en-US" dirty="0"/>
              <a:t>疾病关联进行预测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包含了源自 </a:t>
            </a:r>
            <a:r>
              <a:rPr lang="en" altLang="zh-CN" dirty="0"/>
              <a:t>CTD </a:t>
            </a:r>
            <a:r>
              <a:rPr lang="zh-CN" altLang="en-US" dirty="0"/>
              <a:t>的药物</a:t>
            </a:r>
            <a:r>
              <a:rPr lang="en-US" altLang="zh-CN" dirty="0"/>
              <a:t>-</a:t>
            </a:r>
            <a:r>
              <a:rPr lang="zh-CN" altLang="en-US" dirty="0"/>
              <a:t>疾病关联、药物</a:t>
            </a:r>
            <a:r>
              <a:rPr lang="en-US" altLang="zh-CN" dirty="0"/>
              <a:t>-</a:t>
            </a:r>
            <a:r>
              <a:rPr lang="zh-CN" altLang="en-US" dirty="0"/>
              <a:t>蛋白质关联和蛋白质</a:t>
            </a:r>
            <a:r>
              <a:rPr lang="en-US" altLang="zh-CN" dirty="0"/>
              <a:t>-</a:t>
            </a:r>
            <a:r>
              <a:rPr lang="zh-CN" altLang="en-US" dirty="0"/>
              <a:t>疾病关联信息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dirty="0"/>
              <a:t>MRDDA </a:t>
            </a:r>
            <a:r>
              <a:rPr lang="zh-CN" altLang="en-US" dirty="0"/>
              <a:t>模型通过一个多阶段的深度学习框架，从异构网络中学习特征并进行预测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首先通过异构图卷积 </a:t>
            </a:r>
            <a:r>
              <a:rPr lang="en-US" altLang="zh-CN" dirty="0"/>
              <a:t>(</a:t>
            </a:r>
            <a:r>
              <a:rPr lang="en" altLang="zh-CN" dirty="0" err="1"/>
              <a:t>HeteroGCN</a:t>
            </a:r>
            <a:r>
              <a:rPr lang="en" altLang="zh-CN" dirty="0"/>
              <a:t>) </a:t>
            </a:r>
            <a:r>
              <a:rPr lang="zh-CN" altLang="en-US" dirty="0"/>
              <a:t>学习药物和疾病的全局特征；然后基于元路径的方法 </a:t>
            </a:r>
            <a:r>
              <a:rPr lang="en-US" altLang="zh-CN" dirty="0"/>
              <a:t>(</a:t>
            </a:r>
            <a:r>
              <a:rPr lang="en" altLang="zh-CN" dirty="0"/>
              <a:t>metapath2vec)</a:t>
            </a:r>
            <a:r>
              <a:rPr lang="zh-CN" altLang="en-US" dirty="0"/>
              <a:t>捕捉网络中超越直接邻居的、更复杂和更高阶的拓扑关联；再使用层级注意力机制 </a:t>
            </a:r>
            <a:r>
              <a:rPr lang="en-US" altLang="zh-CN" dirty="0"/>
              <a:t>(</a:t>
            </a:r>
            <a:r>
              <a:rPr lang="en" altLang="zh-CN" dirty="0"/>
              <a:t>Layer Attention)</a:t>
            </a:r>
            <a:r>
              <a:rPr lang="zh-CN" altLang="en" dirty="0"/>
              <a:t>进行</a:t>
            </a:r>
            <a:r>
              <a:rPr lang="zh-CN" altLang="en-US" dirty="0"/>
              <a:t>多层特征融合；最后使用双线性解码器解码关联预测</a:t>
            </a:r>
            <a:endParaRPr lang="en-US" altLang="zh-CN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AF12647-3D44-8D9A-6E50-8AE9B51C99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0404" y="1842375"/>
            <a:ext cx="5392947" cy="383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42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56A74-5695-B051-1A89-05024F8DE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3C2EE6F-7A37-446A-CB1E-137F42D04493}"/>
              </a:ext>
            </a:extLst>
          </p:cNvPr>
          <p:cNvSpPr/>
          <p:nvPr/>
        </p:nvSpPr>
        <p:spPr>
          <a:xfrm>
            <a:off x="-12700" y="18256"/>
            <a:ext cx="5329451" cy="66278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9FFC1D8-8983-7346-CB8F-3FDC08F5B84B}"/>
              </a:ext>
            </a:extLst>
          </p:cNvPr>
          <p:cNvGrpSpPr/>
          <p:nvPr/>
        </p:nvGrpSpPr>
        <p:grpSpPr>
          <a:xfrm>
            <a:off x="10417331" y="470173"/>
            <a:ext cx="1568953" cy="409337"/>
            <a:chOff x="10423287" y="375693"/>
            <a:chExt cx="1568953" cy="409337"/>
          </a:xfrm>
        </p:grpSpPr>
        <p:pic>
          <p:nvPicPr>
            <p:cNvPr id="4" name="Picture 4">
              <a:extLst>
                <a:ext uri="{FF2B5EF4-FFF2-40B4-BE49-F238E27FC236}">
                  <a16:creationId xmlns:a16="http://schemas.microsoft.com/office/drawing/2014/main" id="{C4EAA5DB-8F51-C973-3638-95D6A7B40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423287" y="375693"/>
              <a:ext cx="409336" cy="409336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>
              <a:extLst>
                <a:ext uri="{FF2B5EF4-FFF2-40B4-BE49-F238E27FC236}">
                  <a16:creationId xmlns:a16="http://schemas.microsoft.com/office/drawing/2014/main" id="{35BF60A2-FCAA-0889-866C-82D7BD4113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1091455" y="450511"/>
              <a:ext cx="900785" cy="237049"/>
            </a:xfrm>
            <a:prstGeom prst="rect">
              <a:avLst/>
            </a:prstGeom>
            <a:ln w="12700">
              <a:noFill/>
              <a:prstDash val="solid"/>
            </a:ln>
          </p:spPr>
        </p:pic>
        <p:cxnSp>
          <p:nvCxnSpPr>
            <p:cNvPr id="6" name="Connector 6">
              <a:extLst>
                <a:ext uri="{FF2B5EF4-FFF2-40B4-BE49-F238E27FC236}">
                  <a16:creationId xmlns:a16="http://schemas.microsoft.com/office/drawing/2014/main" id="{E6B40CEA-2739-7221-00BA-F38074AA26F0}"/>
                </a:ext>
              </a:extLst>
            </p:cNvPr>
            <p:cNvCxnSpPr/>
            <p:nvPr/>
          </p:nvCxnSpPr>
          <p:spPr>
            <a:xfrm rot="-2700000" flipV="1">
              <a:off x="10808795" y="435640"/>
              <a:ext cx="289444" cy="289444"/>
            </a:xfrm>
            <a:prstGeom prst="line">
              <a:avLst/>
            </a:prstGeom>
            <a:noFill/>
            <a:ln w="12700" cap="flat">
              <a:solidFill>
                <a:srgbClr val="00000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id="7" name="AutoShape 7">
            <a:extLst>
              <a:ext uri="{FF2B5EF4-FFF2-40B4-BE49-F238E27FC236}">
                <a16:creationId xmlns:a16="http://schemas.microsoft.com/office/drawing/2014/main" id="{1503DC4A-9BC5-A62E-4E2B-9ABF4B93CD5D}"/>
              </a:ext>
            </a:extLst>
          </p:cNvPr>
          <p:cNvSpPr/>
          <p:nvPr/>
        </p:nvSpPr>
        <p:spPr>
          <a:xfrm>
            <a:off x="199760" y="195898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D9FEAD19-EA19-108A-3F0C-DE82CF040AC6}"/>
              </a:ext>
            </a:extLst>
          </p:cNvPr>
          <p:cNvSpPr/>
          <p:nvPr/>
        </p:nvSpPr>
        <p:spPr>
          <a:xfrm>
            <a:off x="-12700" y="29563"/>
            <a:ext cx="10278024" cy="873312"/>
          </a:xfrm>
          <a:prstGeom prst="rect">
            <a:avLst/>
          </a:prstGeom>
          <a:solidFill>
            <a:srgbClr val="FFC000"/>
          </a:solidFill>
          <a:ln w="12700" cap="flat">
            <a:noFill/>
            <a:prstDash val="solid"/>
          </a:ln>
          <a:effectLst>
            <a:outerShdw blurRad="38100" dist="38100" dir="2700000" algn="tr" rotWithShape="0">
              <a:srgbClr val="000000">
                <a:alpha val="40000"/>
              </a:srgbClr>
            </a:outerShdw>
          </a:effectLst>
        </p:spPr>
        <p:txBody>
          <a:bodyPr lIns="95250" tIns="47625" rIns="95250" bIns="47625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6AB7D8BD-4DBA-3A78-286A-62C49F2AD4DF}"/>
              </a:ext>
            </a:extLst>
          </p:cNvPr>
          <p:cNvSpPr/>
          <p:nvPr/>
        </p:nvSpPr>
        <p:spPr>
          <a:xfrm>
            <a:off x="199760" y="239867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186EAC47-1DC0-778C-828E-5BD8723B9218}"/>
              </a:ext>
            </a:extLst>
          </p:cNvPr>
          <p:cNvSpPr/>
          <p:nvPr/>
        </p:nvSpPr>
        <p:spPr>
          <a:xfrm>
            <a:off x="205716" y="49969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污染物数据库（曾博义）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4C3C67C-3A7A-5442-8984-002B955AB7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4424" y="752779"/>
            <a:ext cx="3716674" cy="607565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6036463F-B66B-0514-F495-30051BE0B93F}"/>
              </a:ext>
            </a:extLst>
          </p:cNvPr>
          <p:cNvSpPr txBox="1"/>
          <p:nvPr/>
        </p:nvSpPr>
        <p:spPr>
          <a:xfrm>
            <a:off x="425193" y="1478552"/>
            <a:ext cx="517350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" dirty="0"/>
              <a:t>论文</a:t>
            </a:r>
            <a:r>
              <a:rPr lang="en" altLang="zh-CN" dirty="0"/>
              <a:t>Identification of Drug-Disease Associations Using Information of Molecular Structures and Clinical Symptoms via Deep Convolutional Neural Network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从</a:t>
            </a:r>
            <a:r>
              <a:rPr lang="en-US" altLang="zh-CN" dirty="0"/>
              <a:t>CTD</a:t>
            </a:r>
            <a:r>
              <a:rPr lang="zh-CN" altLang="en-US" dirty="0"/>
              <a:t>数据库中下载已知的药物</a:t>
            </a:r>
            <a:r>
              <a:rPr lang="en-US" altLang="zh-CN" dirty="0"/>
              <a:t>-</a:t>
            </a:r>
            <a:r>
              <a:rPr lang="zh-CN" altLang="en-US" dirty="0"/>
              <a:t>疾病关联数据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特征工程：使用药物的 </a:t>
            </a:r>
            <a:r>
              <a:rPr lang="en" altLang="zh-CN" dirty="0"/>
              <a:t>SMILES </a:t>
            </a:r>
            <a:r>
              <a:rPr lang="zh-CN" altLang="en-US" dirty="0"/>
              <a:t>字符串计算其 </a:t>
            </a:r>
            <a:r>
              <a:rPr lang="en" altLang="zh-CN" dirty="0"/>
              <a:t>PubChem </a:t>
            </a:r>
            <a:r>
              <a:rPr lang="zh-CN" altLang="en-US" dirty="0"/>
              <a:t>分子指纹，生成一个 </a:t>
            </a:r>
            <a:r>
              <a:rPr lang="en-US" altLang="zh-CN" dirty="0"/>
              <a:t>881 </a:t>
            </a:r>
            <a:r>
              <a:rPr lang="zh-CN" altLang="en-US" dirty="0"/>
              <a:t>维的二元向量来描述其化学结构；从人类症状</a:t>
            </a:r>
            <a:r>
              <a:rPr lang="en-US" altLang="zh-CN" dirty="0"/>
              <a:t>-</a:t>
            </a:r>
            <a:r>
              <a:rPr lang="zh-CN" altLang="en-US" dirty="0"/>
              <a:t>疾病网络中提取每种疾病对应的 </a:t>
            </a:r>
            <a:r>
              <a:rPr lang="en-US" altLang="zh-CN" dirty="0"/>
              <a:t>322 </a:t>
            </a:r>
            <a:r>
              <a:rPr lang="zh-CN" altLang="en-US" dirty="0"/>
              <a:t>个症状术语，生成一个 </a:t>
            </a:r>
            <a:r>
              <a:rPr lang="en-US" altLang="zh-CN" dirty="0"/>
              <a:t>322 </a:t>
            </a:r>
            <a:r>
              <a:rPr lang="zh-CN" altLang="en-US" dirty="0"/>
              <a:t>维的向量来量化其临床表现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针对每一个“药物</a:t>
            </a:r>
            <a:r>
              <a:rPr lang="en-US" altLang="zh-CN" dirty="0"/>
              <a:t>-</a:t>
            </a:r>
            <a:r>
              <a:rPr lang="zh-CN" altLang="en-US" dirty="0"/>
              <a:t>疾病”对，将 </a:t>
            </a:r>
            <a:r>
              <a:rPr lang="en-US" altLang="zh-CN" dirty="0"/>
              <a:t>881 </a:t>
            </a:r>
            <a:r>
              <a:rPr lang="zh-CN" altLang="en-US" dirty="0"/>
              <a:t>维的药物指纹向量和 </a:t>
            </a:r>
            <a:r>
              <a:rPr lang="en-US" altLang="zh-CN" dirty="0"/>
              <a:t>322 </a:t>
            </a:r>
            <a:r>
              <a:rPr lang="zh-CN" altLang="en-US" dirty="0"/>
              <a:t>维的疾病症状向量结合，构建一个 </a:t>
            </a:r>
            <a:r>
              <a:rPr lang="en-US" altLang="zh-CN" dirty="0"/>
              <a:t>881</a:t>
            </a:r>
            <a:r>
              <a:rPr lang="en" altLang="zh-CN" dirty="0"/>
              <a:t>x322 </a:t>
            </a:r>
            <a:r>
              <a:rPr lang="zh-CN" altLang="en" dirty="0"/>
              <a:t>的</a:t>
            </a:r>
            <a:r>
              <a:rPr lang="zh-CN" altLang="en-US" dirty="0"/>
              <a:t>二维矩阵，将这个矩阵输入</a:t>
            </a:r>
            <a:r>
              <a:rPr lang="en-US" altLang="zh-CN" dirty="0"/>
              <a:t> CNN </a:t>
            </a:r>
            <a:r>
              <a:rPr lang="zh-CN" altLang="en-US" dirty="0"/>
              <a:t>模型进行对比学习预测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1221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B4BA5-98F2-B733-60C3-5FB832132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CF55A29-D0AF-E130-5A15-C8AF484BAF16}"/>
              </a:ext>
            </a:extLst>
          </p:cNvPr>
          <p:cNvSpPr/>
          <p:nvPr/>
        </p:nvSpPr>
        <p:spPr>
          <a:xfrm>
            <a:off x="-12700" y="18256"/>
            <a:ext cx="5329451" cy="66278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8409D71-D0AE-90CF-1B4F-F97B9B8BDD61}"/>
              </a:ext>
            </a:extLst>
          </p:cNvPr>
          <p:cNvGrpSpPr/>
          <p:nvPr/>
        </p:nvGrpSpPr>
        <p:grpSpPr>
          <a:xfrm>
            <a:off x="10417331" y="470173"/>
            <a:ext cx="1568953" cy="409337"/>
            <a:chOff x="10423287" y="375693"/>
            <a:chExt cx="1568953" cy="409337"/>
          </a:xfrm>
        </p:grpSpPr>
        <p:pic>
          <p:nvPicPr>
            <p:cNvPr id="4" name="Picture 4">
              <a:extLst>
                <a:ext uri="{FF2B5EF4-FFF2-40B4-BE49-F238E27FC236}">
                  <a16:creationId xmlns:a16="http://schemas.microsoft.com/office/drawing/2014/main" id="{8EBBFECA-5E93-B0B8-7F25-A933877E05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423287" y="375693"/>
              <a:ext cx="409336" cy="409336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>
              <a:extLst>
                <a:ext uri="{FF2B5EF4-FFF2-40B4-BE49-F238E27FC236}">
                  <a16:creationId xmlns:a16="http://schemas.microsoft.com/office/drawing/2014/main" id="{C0DC75BE-17C2-F1EA-7536-F79E2BFED9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1091455" y="450511"/>
              <a:ext cx="900785" cy="237049"/>
            </a:xfrm>
            <a:prstGeom prst="rect">
              <a:avLst/>
            </a:prstGeom>
            <a:ln w="12700">
              <a:noFill/>
              <a:prstDash val="solid"/>
            </a:ln>
          </p:spPr>
        </p:pic>
        <p:cxnSp>
          <p:nvCxnSpPr>
            <p:cNvPr id="6" name="Connector 6">
              <a:extLst>
                <a:ext uri="{FF2B5EF4-FFF2-40B4-BE49-F238E27FC236}">
                  <a16:creationId xmlns:a16="http://schemas.microsoft.com/office/drawing/2014/main" id="{4636C63D-450A-9CD8-074D-352CB56211FC}"/>
                </a:ext>
              </a:extLst>
            </p:cNvPr>
            <p:cNvCxnSpPr/>
            <p:nvPr/>
          </p:nvCxnSpPr>
          <p:spPr>
            <a:xfrm rot="-2700000" flipV="1">
              <a:off x="10808795" y="435640"/>
              <a:ext cx="289444" cy="289444"/>
            </a:xfrm>
            <a:prstGeom prst="line">
              <a:avLst/>
            </a:prstGeom>
            <a:noFill/>
            <a:ln w="12700" cap="flat">
              <a:solidFill>
                <a:srgbClr val="00000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id="7" name="AutoShape 7">
            <a:extLst>
              <a:ext uri="{FF2B5EF4-FFF2-40B4-BE49-F238E27FC236}">
                <a16:creationId xmlns:a16="http://schemas.microsoft.com/office/drawing/2014/main" id="{AC6B1633-E17B-9ABC-C97E-3DB70712B9AC}"/>
              </a:ext>
            </a:extLst>
          </p:cNvPr>
          <p:cNvSpPr/>
          <p:nvPr/>
        </p:nvSpPr>
        <p:spPr>
          <a:xfrm>
            <a:off x="199760" y="195898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02A8F075-1792-0454-35CE-952D5B4FEE70}"/>
              </a:ext>
            </a:extLst>
          </p:cNvPr>
          <p:cNvSpPr/>
          <p:nvPr/>
        </p:nvSpPr>
        <p:spPr>
          <a:xfrm>
            <a:off x="-12700" y="191127"/>
            <a:ext cx="10278024" cy="873312"/>
          </a:xfrm>
          <a:prstGeom prst="rect">
            <a:avLst/>
          </a:prstGeom>
          <a:solidFill>
            <a:srgbClr val="FFC000"/>
          </a:solidFill>
          <a:ln w="12700" cap="flat">
            <a:noFill/>
            <a:prstDash val="solid"/>
          </a:ln>
          <a:effectLst>
            <a:outerShdw blurRad="38100" dist="38100" dir="2700000" algn="tr" rotWithShape="0">
              <a:srgbClr val="000000">
                <a:alpha val="40000"/>
              </a:srgbClr>
            </a:outerShdw>
          </a:effectLst>
        </p:spPr>
        <p:txBody>
          <a:bodyPr lIns="95250" tIns="47625" rIns="95250" bIns="47625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04CC89A9-A6D6-B0C3-95CE-6DCB6D035C8A}"/>
              </a:ext>
            </a:extLst>
          </p:cNvPr>
          <p:cNvSpPr/>
          <p:nvPr/>
        </p:nvSpPr>
        <p:spPr>
          <a:xfrm>
            <a:off x="199760" y="239867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01BD1588-C80F-EDF2-C8FE-5A621775B506}"/>
              </a:ext>
            </a:extLst>
          </p:cNvPr>
          <p:cNvSpPr/>
          <p:nvPr/>
        </p:nvSpPr>
        <p:spPr>
          <a:xfrm>
            <a:off x="205716" y="49969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污染物数据库（曾博义）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EA59F53-C3C8-733A-0537-BE953B88B021}"/>
              </a:ext>
            </a:extLst>
          </p:cNvPr>
          <p:cNvSpPr txBox="1"/>
          <p:nvPr/>
        </p:nvSpPr>
        <p:spPr>
          <a:xfrm>
            <a:off x="121176" y="1712944"/>
            <a:ext cx="460557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调研使用</a:t>
            </a:r>
            <a:r>
              <a:rPr lang="en" altLang="zh-CN" dirty="0"/>
              <a:t>CTD </a:t>
            </a:r>
            <a:r>
              <a:rPr lang="zh-CN" altLang="en-US" dirty="0"/>
              <a:t>数据集进行关联预测的深度学方法，下面是一篇高影响力（</a:t>
            </a:r>
            <a:r>
              <a:rPr lang="en-US" altLang="zh-CN" dirty="0"/>
              <a:t>cite</a:t>
            </a:r>
            <a:r>
              <a:rPr lang="zh-CN" altLang="en-US" dirty="0"/>
              <a:t> </a:t>
            </a:r>
            <a:r>
              <a:rPr lang="en-US" altLang="zh-CN" dirty="0"/>
              <a:t>364</a:t>
            </a:r>
            <a:r>
              <a:rPr lang="zh-CN" altLang="en-US" dirty="0"/>
              <a:t>），并开源了代码的</a:t>
            </a:r>
            <a:r>
              <a:rPr lang="zh-CN" altLang="en" dirty="0"/>
              <a:t>论文</a:t>
            </a:r>
            <a:r>
              <a:rPr lang="en" altLang="zh-CN" dirty="0"/>
              <a:t>Predicting drug–disease associations through layer</a:t>
            </a:r>
            <a:r>
              <a:rPr lang="zh-CN" altLang="en-US" dirty="0"/>
              <a:t> </a:t>
            </a:r>
            <a:r>
              <a:rPr lang="en" altLang="zh-CN" dirty="0"/>
              <a:t>attention graph convolutional network</a:t>
            </a:r>
            <a:r>
              <a:rPr lang="zh-CN" altLang="en-US" dirty="0"/>
              <a:t>：总体思路是从</a:t>
            </a:r>
            <a:r>
              <a:rPr lang="en-US" altLang="zh-CN" dirty="0"/>
              <a:t> CTD</a:t>
            </a:r>
            <a:r>
              <a:rPr lang="zh-CN" altLang="en-US" dirty="0"/>
              <a:t>、</a:t>
            </a:r>
            <a:r>
              <a:rPr lang="en" altLang="zh-CN" dirty="0" err="1"/>
              <a:t>DrugBank</a:t>
            </a:r>
            <a:r>
              <a:rPr lang="zh-CN" altLang="en-US" dirty="0"/>
              <a:t>和</a:t>
            </a:r>
            <a:r>
              <a:rPr lang="en-US" altLang="zh-CN" dirty="0" err="1"/>
              <a:t>MeSH</a:t>
            </a:r>
            <a:r>
              <a:rPr lang="en-US" altLang="zh-CN" dirty="0"/>
              <a:t> </a:t>
            </a:r>
            <a:r>
              <a:rPr lang="zh-CN" altLang="en-US" dirty="0"/>
              <a:t>数据分别构药物</a:t>
            </a:r>
            <a:r>
              <a:rPr lang="en-US" altLang="zh-CN" dirty="0"/>
              <a:t>-</a:t>
            </a:r>
            <a:r>
              <a:rPr lang="zh-CN" altLang="en-US" dirty="0"/>
              <a:t>疾病，药物</a:t>
            </a:r>
            <a:r>
              <a:rPr lang="en-US" altLang="zh-CN" dirty="0"/>
              <a:t>-</a:t>
            </a:r>
            <a:r>
              <a:rPr lang="zh-CN" altLang="en-US" dirty="0"/>
              <a:t>药物，疾病</a:t>
            </a:r>
            <a:r>
              <a:rPr lang="en-US" altLang="zh-CN" dirty="0"/>
              <a:t>-</a:t>
            </a:r>
            <a:r>
              <a:rPr lang="zh-CN" altLang="en-US" dirty="0"/>
              <a:t>疾病三种图，然后使用层级注意力图卷积网络 </a:t>
            </a:r>
            <a:r>
              <a:rPr lang="en" altLang="zh-CN" dirty="0"/>
              <a:t>(LAGCN)</a:t>
            </a:r>
            <a:r>
              <a:rPr lang="zh-CN" altLang="en" dirty="0"/>
              <a:t>进行</a:t>
            </a:r>
            <a:r>
              <a:rPr lang="zh-CN" altLang="en-US" dirty="0"/>
              <a:t>预测；</a:t>
            </a:r>
            <a:endParaRPr lang="en-US" altLang="zh-CN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C06B06B1-7E9E-8D0E-D1FE-81A72CB17A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8432" y="1712944"/>
            <a:ext cx="6703402" cy="409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133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C266B-0A0E-A10D-6629-5E8981000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A48D9CF-AC11-AAB1-074E-45B0645CF99C}"/>
              </a:ext>
            </a:extLst>
          </p:cNvPr>
          <p:cNvSpPr/>
          <p:nvPr/>
        </p:nvSpPr>
        <p:spPr>
          <a:xfrm>
            <a:off x="-12700" y="18256"/>
            <a:ext cx="5329451" cy="66278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9D53CE0-44C6-95AC-26F8-5006B1DA59FA}"/>
              </a:ext>
            </a:extLst>
          </p:cNvPr>
          <p:cNvGrpSpPr/>
          <p:nvPr/>
        </p:nvGrpSpPr>
        <p:grpSpPr>
          <a:xfrm>
            <a:off x="10417331" y="470173"/>
            <a:ext cx="1568953" cy="409337"/>
            <a:chOff x="10423287" y="375693"/>
            <a:chExt cx="1568953" cy="409337"/>
          </a:xfrm>
        </p:grpSpPr>
        <p:pic>
          <p:nvPicPr>
            <p:cNvPr id="4" name="Picture 4">
              <a:extLst>
                <a:ext uri="{FF2B5EF4-FFF2-40B4-BE49-F238E27FC236}">
                  <a16:creationId xmlns:a16="http://schemas.microsoft.com/office/drawing/2014/main" id="{658AB1A9-2B68-3700-8FCF-A7220ABD20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423287" y="375693"/>
              <a:ext cx="409336" cy="409336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>
              <a:extLst>
                <a:ext uri="{FF2B5EF4-FFF2-40B4-BE49-F238E27FC236}">
                  <a16:creationId xmlns:a16="http://schemas.microsoft.com/office/drawing/2014/main" id="{24BC81F5-DCBC-1569-3561-A253A9714E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1091455" y="450511"/>
              <a:ext cx="900785" cy="237049"/>
            </a:xfrm>
            <a:prstGeom prst="rect">
              <a:avLst/>
            </a:prstGeom>
            <a:ln w="12700">
              <a:noFill/>
              <a:prstDash val="solid"/>
            </a:ln>
          </p:spPr>
        </p:pic>
        <p:cxnSp>
          <p:nvCxnSpPr>
            <p:cNvPr id="6" name="Connector 6">
              <a:extLst>
                <a:ext uri="{FF2B5EF4-FFF2-40B4-BE49-F238E27FC236}">
                  <a16:creationId xmlns:a16="http://schemas.microsoft.com/office/drawing/2014/main" id="{E433E3AD-7394-0A1B-72F2-F51C1CC6940B}"/>
                </a:ext>
              </a:extLst>
            </p:cNvPr>
            <p:cNvCxnSpPr/>
            <p:nvPr/>
          </p:nvCxnSpPr>
          <p:spPr>
            <a:xfrm rot="-2700000" flipV="1">
              <a:off x="10808795" y="435640"/>
              <a:ext cx="289444" cy="289444"/>
            </a:xfrm>
            <a:prstGeom prst="line">
              <a:avLst/>
            </a:prstGeom>
            <a:noFill/>
            <a:ln w="12700" cap="flat">
              <a:solidFill>
                <a:srgbClr val="00000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id="7" name="AutoShape 7">
            <a:extLst>
              <a:ext uri="{FF2B5EF4-FFF2-40B4-BE49-F238E27FC236}">
                <a16:creationId xmlns:a16="http://schemas.microsoft.com/office/drawing/2014/main" id="{6077247B-7FE0-20E2-C3C6-52D4FD93BBE4}"/>
              </a:ext>
            </a:extLst>
          </p:cNvPr>
          <p:cNvSpPr/>
          <p:nvPr/>
        </p:nvSpPr>
        <p:spPr>
          <a:xfrm>
            <a:off x="199760" y="195898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E88E2AE3-E50F-14A1-E045-171EC408E1FA}"/>
              </a:ext>
            </a:extLst>
          </p:cNvPr>
          <p:cNvSpPr/>
          <p:nvPr/>
        </p:nvSpPr>
        <p:spPr>
          <a:xfrm>
            <a:off x="-12700" y="29563"/>
            <a:ext cx="10278024" cy="873312"/>
          </a:xfrm>
          <a:prstGeom prst="rect">
            <a:avLst/>
          </a:prstGeom>
          <a:solidFill>
            <a:srgbClr val="FFC000"/>
          </a:solidFill>
          <a:ln w="12700" cap="flat">
            <a:noFill/>
            <a:prstDash val="solid"/>
          </a:ln>
          <a:effectLst>
            <a:outerShdw blurRad="38100" dist="38100" dir="2700000" algn="tr" rotWithShape="0">
              <a:srgbClr val="000000">
                <a:alpha val="40000"/>
              </a:srgbClr>
            </a:outerShdw>
          </a:effectLst>
        </p:spPr>
        <p:txBody>
          <a:bodyPr lIns="95250" tIns="47625" rIns="95250" bIns="47625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0FEDEE0E-7E41-CF07-2FC2-E98F64E623A7}"/>
              </a:ext>
            </a:extLst>
          </p:cNvPr>
          <p:cNvSpPr/>
          <p:nvPr/>
        </p:nvSpPr>
        <p:spPr>
          <a:xfrm>
            <a:off x="199760" y="239867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4034A27B-D55F-2F7A-5F87-16197AD22AA2}"/>
              </a:ext>
            </a:extLst>
          </p:cNvPr>
          <p:cNvSpPr/>
          <p:nvPr/>
        </p:nvSpPr>
        <p:spPr>
          <a:xfrm>
            <a:off x="205716" y="49969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污染物数据库（曾博义）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99E15D0-146D-F3EA-4297-5B9CE8B49C31}"/>
              </a:ext>
            </a:extLst>
          </p:cNvPr>
          <p:cNvSpPr txBox="1"/>
          <p:nvPr/>
        </p:nvSpPr>
        <p:spPr>
          <a:xfrm>
            <a:off x="1860884" y="1351508"/>
            <a:ext cx="4685898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kumimoji="1" lang="zh-CN" altLang="en-US" sz="3600" dirty="0"/>
              <a:t>数据库信息</a:t>
            </a:r>
            <a:endParaRPr kumimoji="1" lang="en-US" altLang="zh-CN" sz="3600" dirty="0"/>
          </a:p>
          <a:p>
            <a:pPr marL="342900" indent="-342900">
              <a:buFont typeface="+mj-lt"/>
              <a:buAutoNum type="arabicPeriod"/>
            </a:pPr>
            <a:endParaRPr kumimoji="1" lang="en-US" altLang="zh-CN" sz="3600" dirty="0"/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3600" dirty="0"/>
              <a:t>论文调研</a:t>
            </a:r>
            <a:endParaRPr kumimoji="1" lang="en-US" altLang="zh-CN" sz="3600" dirty="0"/>
          </a:p>
          <a:p>
            <a:pPr marL="342900" indent="-342900">
              <a:buFont typeface="+mj-lt"/>
              <a:buAutoNum type="arabicPeriod"/>
            </a:pPr>
            <a:endParaRPr kumimoji="1" lang="en-US" altLang="zh-CN" sz="3600" dirty="0"/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3600" dirty="0">
                <a:solidFill>
                  <a:srgbClr val="FF0000"/>
                </a:solidFill>
              </a:rPr>
              <a:t>已有关系预测结果</a:t>
            </a:r>
            <a:endParaRPr kumimoji="1" lang="en-US" altLang="zh-CN" sz="3600" dirty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kumimoji="1" lang="en-US" altLang="zh-CN" sz="3600" dirty="0"/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3600" dirty="0"/>
              <a:t>新增关系文献支持率</a:t>
            </a:r>
          </a:p>
        </p:txBody>
      </p:sp>
    </p:spTree>
    <p:extLst>
      <p:ext uri="{BB962C8B-B14F-4D97-AF65-F5344CB8AC3E}">
        <p14:creationId xmlns:p14="http://schemas.microsoft.com/office/powerpoint/2010/main" val="1247507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78DAC-75D1-8B82-62A4-B133833CD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038529B-CB89-E67A-662B-4C6BABB5CDCD}"/>
              </a:ext>
            </a:extLst>
          </p:cNvPr>
          <p:cNvSpPr/>
          <p:nvPr/>
        </p:nvSpPr>
        <p:spPr>
          <a:xfrm>
            <a:off x="-12700" y="18256"/>
            <a:ext cx="5329451" cy="66278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BA14E3A-FD20-BD6A-722A-BC98E075EA51}"/>
              </a:ext>
            </a:extLst>
          </p:cNvPr>
          <p:cNvGrpSpPr/>
          <p:nvPr/>
        </p:nvGrpSpPr>
        <p:grpSpPr>
          <a:xfrm>
            <a:off x="10417331" y="470173"/>
            <a:ext cx="1568953" cy="409337"/>
            <a:chOff x="10423287" y="375693"/>
            <a:chExt cx="1568953" cy="409337"/>
          </a:xfrm>
        </p:grpSpPr>
        <p:pic>
          <p:nvPicPr>
            <p:cNvPr id="4" name="Picture 4">
              <a:extLst>
                <a:ext uri="{FF2B5EF4-FFF2-40B4-BE49-F238E27FC236}">
                  <a16:creationId xmlns:a16="http://schemas.microsoft.com/office/drawing/2014/main" id="{AED0D14E-E297-E558-79A7-012BCD9E0F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423287" y="375693"/>
              <a:ext cx="409336" cy="409336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>
              <a:extLst>
                <a:ext uri="{FF2B5EF4-FFF2-40B4-BE49-F238E27FC236}">
                  <a16:creationId xmlns:a16="http://schemas.microsoft.com/office/drawing/2014/main" id="{618AED26-55E5-1BD8-6D03-A1DD9F8849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1091455" y="450511"/>
              <a:ext cx="900785" cy="237049"/>
            </a:xfrm>
            <a:prstGeom prst="rect">
              <a:avLst/>
            </a:prstGeom>
            <a:ln w="12700">
              <a:noFill/>
              <a:prstDash val="solid"/>
            </a:ln>
          </p:spPr>
        </p:pic>
        <p:cxnSp>
          <p:nvCxnSpPr>
            <p:cNvPr id="6" name="Connector 6">
              <a:extLst>
                <a:ext uri="{FF2B5EF4-FFF2-40B4-BE49-F238E27FC236}">
                  <a16:creationId xmlns:a16="http://schemas.microsoft.com/office/drawing/2014/main" id="{7E5124AA-4935-9C2B-271D-F01BDF44B369}"/>
                </a:ext>
              </a:extLst>
            </p:cNvPr>
            <p:cNvCxnSpPr/>
            <p:nvPr/>
          </p:nvCxnSpPr>
          <p:spPr>
            <a:xfrm rot="-2700000" flipV="1">
              <a:off x="10808795" y="435640"/>
              <a:ext cx="289444" cy="289444"/>
            </a:xfrm>
            <a:prstGeom prst="line">
              <a:avLst/>
            </a:prstGeom>
            <a:noFill/>
            <a:ln w="12700" cap="flat">
              <a:solidFill>
                <a:srgbClr val="00000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id="7" name="AutoShape 7">
            <a:extLst>
              <a:ext uri="{FF2B5EF4-FFF2-40B4-BE49-F238E27FC236}">
                <a16:creationId xmlns:a16="http://schemas.microsoft.com/office/drawing/2014/main" id="{37F68208-7AB1-EB8E-38D1-5E0B673A926C}"/>
              </a:ext>
            </a:extLst>
          </p:cNvPr>
          <p:cNvSpPr/>
          <p:nvPr/>
        </p:nvSpPr>
        <p:spPr>
          <a:xfrm>
            <a:off x="199760" y="195898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14D1B8A1-68BD-DCD8-93CD-34AE31171177}"/>
              </a:ext>
            </a:extLst>
          </p:cNvPr>
          <p:cNvSpPr/>
          <p:nvPr/>
        </p:nvSpPr>
        <p:spPr>
          <a:xfrm>
            <a:off x="-12700" y="190442"/>
            <a:ext cx="10278024" cy="873312"/>
          </a:xfrm>
          <a:prstGeom prst="rect">
            <a:avLst/>
          </a:prstGeom>
          <a:solidFill>
            <a:srgbClr val="FFC000"/>
          </a:solidFill>
          <a:ln w="12700" cap="flat">
            <a:noFill/>
            <a:prstDash val="solid"/>
          </a:ln>
          <a:effectLst>
            <a:outerShdw blurRad="38100" dist="38100" dir="2700000" algn="tr" rotWithShape="0">
              <a:srgbClr val="000000">
                <a:alpha val="40000"/>
              </a:srgbClr>
            </a:outerShdw>
          </a:effectLst>
        </p:spPr>
        <p:txBody>
          <a:bodyPr lIns="95250" tIns="47625" rIns="95250" bIns="47625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8D037D20-9320-EB39-363E-12DADE4DF8DB}"/>
              </a:ext>
            </a:extLst>
          </p:cNvPr>
          <p:cNvSpPr/>
          <p:nvPr/>
        </p:nvSpPr>
        <p:spPr>
          <a:xfrm>
            <a:off x="199760" y="239867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879C17A9-7966-B4DB-4D65-1D5F33A107EE}"/>
              </a:ext>
            </a:extLst>
          </p:cNvPr>
          <p:cNvSpPr/>
          <p:nvPr/>
        </p:nvSpPr>
        <p:spPr>
          <a:xfrm>
            <a:off x="193804" y="265568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污染物数据库（曾博义）</a:t>
            </a: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01DCBB7B-2D8E-384A-5174-896E1AE6E219}"/>
              </a:ext>
            </a:extLst>
          </p:cNvPr>
          <p:cNvGraphicFramePr>
            <a:graphicFrameLocks noGrp="1"/>
          </p:cNvGraphicFramePr>
          <p:nvPr/>
        </p:nvGraphicFramePr>
        <p:xfrm>
          <a:off x="99880" y="1661132"/>
          <a:ext cx="7420132" cy="176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9978">
                  <a:extLst>
                    <a:ext uri="{9D8B030D-6E8A-4147-A177-3AD203B41FA5}">
                      <a16:colId xmlns:a16="http://schemas.microsoft.com/office/drawing/2014/main" val="51853320"/>
                    </a:ext>
                  </a:extLst>
                </a:gridCol>
                <a:gridCol w="1872038">
                  <a:extLst>
                    <a:ext uri="{9D8B030D-6E8A-4147-A177-3AD203B41FA5}">
                      <a16:colId xmlns:a16="http://schemas.microsoft.com/office/drawing/2014/main" val="2323678717"/>
                    </a:ext>
                  </a:extLst>
                </a:gridCol>
                <a:gridCol w="1487920">
                  <a:extLst>
                    <a:ext uri="{9D8B030D-6E8A-4147-A177-3AD203B41FA5}">
                      <a16:colId xmlns:a16="http://schemas.microsoft.com/office/drawing/2014/main" val="2520282162"/>
                    </a:ext>
                  </a:extLst>
                </a:gridCol>
                <a:gridCol w="2380196">
                  <a:extLst>
                    <a:ext uri="{9D8B030D-6E8A-4147-A177-3AD203B41FA5}">
                      <a16:colId xmlns:a16="http://schemas.microsoft.com/office/drawing/2014/main" val="1990458592"/>
                    </a:ext>
                  </a:extLst>
                </a:gridCol>
              </a:tblGrid>
              <a:tr h="264958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数据库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数据来源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/>
                        <a:t>数据条数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数据字段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173132"/>
                  </a:ext>
                </a:extLst>
              </a:tr>
              <a:tr h="520126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CTD </a:t>
                      </a:r>
                      <a:r>
                        <a:rPr lang="zh-CN" altLang="en-US" sz="1400" dirty="0"/>
                        <a:t>数据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根据化合物和基因关系推断、</a:t>
                      </a:r>
                      <a:r>
                        <a:rPr lang="en" altLang="zh-CN" sz="1400" dirty="0"/>
                        <a:t>PubMed </a:t>
                      </a:r>
                      <a:r>
                        <a:rPr lang="zh-CN" altLang="en" sz="1400" dirty="0"/>
                        <a:t>文献</a:t>
                      </a:r>
                      <a:r>
                        <a:rPr lang="zh-CN" altLang="en-US" sz="1400" dirty="0"/>
                        <a:t>获取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9546982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/>
                        <a:t>有直接证据的条目：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108217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化合物、疾病、推断基因、</a:t>
                      </a:r>
                      <a:r>
                        <a:rPr lang="en-US" altLang="zh-CN" sz="1400" dirty="0"/>
                        <a:t>PubMed </a:t>
                      </a:r>
                      <a:r>
                        <a:rPr lang="zh-CN" altLang="en-US" sz="1400" dirty="0"/>
                        <a:t>文献</a:t>
                      </a:r>
                      <a:r>
                        <a:rPr lang="en-US" altLang="zh-CN" sz="1400"/>
                        <a:t> id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1415485"/>
                  </a:ext>
                </a:extLst>
              </a:tr>
              <a:tr h="520126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疾病污染物数据库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从流调文献获取，人工抽取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3125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污染物、浓度、疾病</a:t>
                      </a:r>
                      <a:r>
                        <a:rPr lang="en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值、疾病</a:t>
                      </a:r>
                      <a:r>
                        <a:rPr lang="en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值、地区、年龄、性别等字段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793193"/>
                  </a:ext>
                </a:extLst>
              </a:tr>
            </a:tbl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A798181D-7422-4841-14C5-97E4F5C99348}"/>
              </a:ext>
            </a:extLst>
          </p:cNvPr>
          <p:cNvSpPr txBox="1"/>
          <p:nvPr/>
        </p:nvSpPr>
        <p:spPr>
          <a:xfrm>
            <a:off x="99880" y="125931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数据库信息：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25787E5E-0A67-24AD-01CF-7316B8124237}"/>
              </a:ext>
            </a:extLst>
          </p:cNvPr>
          <p:cNvGraphicFramePr>
            <a:graphicFrameLocks noGrp="1"/>
          </p:cNvGraphicFramePr>
          <p:nvPr/>
        </p:nvGraphicFramePr>
        <p:xfrm>
          <a:off x="9124582" y="4534581"/>
          <a:ext cx="2398426" cy="2232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9834">
                  <a:extLst>
                    <a:ext uri="{9D8B030D-6E8A-4147-A177-3AD203B41FA5}">
                      <a16:colId xmlns:a16="http://schemas.microsoft.com/office/drawing/2014/main" val="711483786"/>
                    </a:ext>
                  </a:extLst>
                </a:gridCol>
                <a:gridCol w="706659">
                  <a:extLst>
                    <a:ext uri="{9D8B030D-6E8A-4147-A177-3AD203B41FA5}">
                      <a16:colId xmlns:a16="http://schemas.microsoft.com/office/drawing/2014/main" val="4132533459"/>
                    </a:ext>
                  </a:extLst>
                </a:gridCol>
                <a:gridCol w="691933">
                  <a:extLst>
                    <a:ext uri="{9D8B030D-6E8A-4147-A177-3AD203B41FA5}">
                      <a16:colId xmlns:a16="http://schemas.microsoft.com/office/drawing/2014/main" val="4117582630"/>
                    </a:ext>
                  </a:extLst>
                </a:gridCol>
              </a:tblGrid>
              <a:tr h="330087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Method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dirty="0"/>
                        <a:t>GCN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dirty="0"/>
                        <a:t>MLP</a:t>
                      </a:r>
                      <a:endParaRPr lang="zh-CN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9743062"/>
                  </a:ext>
                </a:extLst>
              </a:tr>
              <a:tr h="530651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800" dirty="0"/>
                        <a:t>Acc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dirty="0"/>
                        <a:t>0.96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dirty="0"/>
                        <a:t>0.94</a:t>
                      </a:r>
                      <a:endParaRPr lang="zh-CN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1682851"/>
                  </a:ext>
                </a:extLst>
              </a:tr>
              <a:tr h="530651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800" dirty="0"/>
                        <a:t>Recall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dirty="0"/>
                        <a:t>0.88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dirty="0"/>
                        <a:t>0.94</a:t>
                      </a:r>
                      <a:endParaRPr lang="zh-CN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771189"/>
                  </a:ext>
                </a:extLst>
              </a:tr>
              <a:tr h="530651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800" dirty="0"/>
                        <a:t>F1 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dirty="0"/>
                        <a:t>0.74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dirty="0"/>
                        <a:t>0.94</a:t>
                      </a:r>
                      <a:endParaRPr lang="zh-CN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855879"/>
                  </a:ext>
                </a:extLst>
              </a:tr>
            </a:tbl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7F6CA67F-40A7-8574-259D-DEE0DAF480D5}"/>
              </a:ext>
            </a:extLst>
          </p:cNvPr>
          <p:cNvSpPr txBox="1"/>
          <p:nvPr/>
        </p:nvSpPr>
        <p:spPr>
          <a:xfrm>
            <a:off x="8485468" y="3699342"/>
            <a:ext cx="37332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在</a:t>
            </a:r>
            <a:r>
              <a:rPr kumimoji="1" lang="en-US" altLang="zh-CN" dirty="0"/>
              <a:t> CTD</a:t>
            </a:r>
            <a:r>
              <a:rPr kumimoji="1" lang="zh-CN" altLang="en-US" dirty="0"/>
              <a:t>有直接证据的 </a:t>
            </a:r>
            <a:r>
              <a:rPr kumimoji="1" lang="en-US" altLang="zh-CN" dirty="0"/>
              <a:t>108217 </a:t>
            </a:r>
            <a:r>
              <a:rPr kumimoji="1" lang="zh-CN" altLang="en-US" dirty="0"/>
              <a:t>条关系</a:t>
            </a:r>
            <a:endParaRPr kumimoji="1" lang="en-US" altLang="zh-CN" dirty="0"/>
          </a:p>
          <a:p>
            <a:r>
              <a:rPr kumimoji="1" lang="zh-CN" altLang="en-US" dirty="0"/>
              <a:t>数据上，两类关系预测的结果：</a:t>
            </a: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BF8E247B-A4BF-07C2-56C4-493CF96D06A8}"/>
              </a:ext>
            </a:extLst>
          </p:cNvPr>
          <p:cNvGraphicFramePr>
            <a:graphicFrameLocks noGrp="1"/>
          </p:cNvGraphicFramePr>
          <p:nvPr/>
        </p:nvGraphicFramePr>
        <p:xfrm>
          <a:off x="7815036" y="1838284"/>
          <a:ext cx="4116864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216">
                  <a:extLst>
                    <a:ext uri="{9D8B030D-6E8A-4147-A177-3AD203B41FA5}">
                      <a16:colId xmlns:a16="http://schemas.microsoft.com/office/drawing/2014/main" val="2128371514"/>
                    </a:ext>
                  </a:extLst>
                </a:gridCol>
                <a:gridCol w="1029216">
                  <a:extLst>
                    <a:ext uri="{9D8B030D-6E8A-4147-A177-3AD203B41FA5}">
                      <a16:colId xmlns:a16="http://schemas.microsoft.com/office/drawing/2014/main" val="2504218399"/>
                    </a:ext>
                  </a:extLst>
                </a:gridCol>
                <a:gridCol w="1029216">
                  <a:extLst>
                    <a:ext uri="{9D8B030D-6E8A-4147-A177-3AD203B41FA5}">
                      <a16:colId xmlns:a16="http://schemas.microsoft.com/office/drawing/2014/main" val="4019741230"/>
                    </a:ext>
                  </a:extLst>
                </a:gridCol>
                <a:gridCol w="1029216">
                  <a:extLst>
                    <a:ext uri="{9D8B030D-6E8A-4147-A177-3AD203B41FA5}">
                      <a16:colId xmlns:a16="http://schemas.microsoft.com/office/drawing/2014/main" val="2239240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Method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Accuracy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F1</a:t>
                      </a:r>
                      <a:r>
                        <a:rPr lang="en-US" altLang="zh-CN" dirty="0"/>
                        <a:t>-Score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570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GCN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dirty="0"/>
                        <a:t>0.7520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dirty="0"/>
                        <a:t>0.7096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dirty="0"/>
                        <a:t>0.6462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074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MLP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0.7716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0.7170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0.7211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889495"/>
                  </a:ext>
                </a:extLst>
              </a:tr>
            </a:tbl>
          </a:graphicData>
        </a:graphic>
      </p:graphicFrame>
      <p:sp>
        <p:nvSpPr>
          <p:cNvPr id="22" name="文本框 21">
            <a:extLst>
              <a:ext uri="{FF2B5EF4-FFF2-40B4-BE49-F238E27FC236}">
                <a16:creationId xmlns:a16="http://schemas.microsoft.com/office/drawing/2014/main" id="{B1B0F8FD-8112-A907-63C7-80B40083A572}"/>
              </a:ext>
            </a:extLst>
          </p:cNvPr>
          <p:cNvSpPr txBox="1"/>
          <p:nvPr/>
        </p:nvSpPr>
        <p:spPr>
          <a:xfrm>
            <a:off x="7505022" y="1468952"/>
            <a:ext cx="4824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有直接证据的</a:t>
            </a:r>
            <a:r>
              <a:rPr kumimoji="1" lang="en-US" altLang="zh-CN" dirty="0"/>
              <a:t> CTD </a:t>
            </a:r>
            <a:r>
              <a:rPr kumimoji="1" lang="zh-CN" altLang="en-US" dirty="0"/>
              <a:t>上，多类别关系预测结果：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B4F2833-261D-59C5-D779-C72C2DC6582C}"/>
              </a:ext>
            </a:extLst>
          </p:cNvPr>
          <p:cNvSpPr txBox="1"/>
          <p:nvPr/>
        </p:nvSpPr>
        <p:spPr>
          <a:xfrm>
            <a:off x="-12700" y="3428972"/>
            <a:ext cx="85539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论文：</a:t>
            </a:r>
            <a:r>
              <a:rPr lang="en" altLang="zh-CN" dirty="0"/>
              <a:t> </a:t>
            </a:r>
          </a:p>
          <a:p>
            <a:r>
              <a:rPr lang="en" altLang="zh-CN" dirty="0"/>
              <a:t>Predicting drug–disease associations through layer</a:t>
            </a:r>
            <a:r>
              <a:rPr lang="zh-CN" altLang="en-US" dirty="0"/>
              <a:t> </a:t>
            </a:r>
            <a:r>
              <a:rPr lang="en" altLang="zh-CN" dirty="0"/>
              <a:t>attention graph convolutional network</a:t>
            </a:r>
          </a:p>
          <a:p>
            <a:r>
              <a:rPr lang="zh-CN" altLang="en-US" dirty="0"/>
              <a:t>利用</a:t>
            </a:r>
            <a:r>
              <a:rPr lang="en-US" altLang="zh-CN" dirty="0"/>
              <a:t> CTD</a:t>
            </a:r>
            <a:r>
              <a:rPr lang="zh-CN" altLang="en-US" dirty="0"/>
              <a:t>、</a:t>
            </a:r>
            <a:r>
              <a:rPr lang="en" altLang="zh-CN" dirty="0" err="1"/>
              <a:t>DrugBank</a:t>
            </a:r>
            <a:r>
              <a:rPr lang="zh-CN" altLang="en-US" dirty="0"/>
              <a:t>和</a:t>
            </a:r>
            <a:r>
              <a:rPr lang="en-US" altLang="zh-CN" dirty="0" err="1"/>
              <a:t>MeSH</a:t>
            </a:r>
            <a:r>
              <a:rPr lang="en-US" altLang="zh-CN" dirty="0"/>
              <a:t> </a:t>
            </a:r>
            <a:r>
              <a:rPr lang="zh-CN" altLang="en-US" dirty="0"/>
              <a:t>数据，进行药物疾病之间关系的预测</a:t>
            </a:r>
            <a:endParaRPr lang="en-US" altLang="zh-CN" dirty="0"/>
          </a:p>
          <a:p>
            <a:r>
              <a:rPr lang="en" altLang="zh-CN" dirty="0"/>
              <a:t>MRDDA: a multi-relational graph neural</a:t>
            </a:r>
            <a:r>
              <a:rPr lang="zh-CN" altLang="en-US" dirty="0"/>
              <a:t> </a:t>
            </a:r>
            <a:r>
              <a:rPr lang="en" altLang="zh-CN" dirty="0"/>
              <a:t>network for drug–disease association prediction</a:t>
            </a:r>
          </a:p>
          <a:p>
            <a:r>
              <a:rPr lang="zh-CN" altLang="en" dirty="0"/>
              <a:t>利用</a:t>
            </a:r>
            <a:r>
              <a:rPr lang="en" altLang="zh-CN" dirty="0"/>
              <a:t>CTD </a:t>
            </a:r>
            <a:r>
              <a:rPr lang="zh-CN" altLang="en-US" dirty="0"/>
              <a:t>的药物</a:t>
            </a:r>
            <a:r>
              <a:rPr lang="en-US" altLang="zh-CN" dirty="0"/>
              <a:t>-</a:t>
            </a:r>
            <a:r>
              <a:rPr lang="zh-CN" altLang="en-US" dirty="0"/>
              <a:t>疾病关联、药物</a:t>
            </a:r>
            <a:r>
              <a:rPr lang="en-US" altLang="zh-CN" dirty="0"/>
              <a:t>-</a:t>
            </a:r>
            <a:r>
              <a:rPr lang="zh-CN" altLang="en-US" dirty="0"/>
              <a:t>蛋白质关联，预测药物</a:t>
            </a:r>
            <a:r>
              <a:rPr lang="en-US" altLang="zh-CN" dirty="0"/>
              <a:t>-</a:t>
            </a:r>
            <a:r>
              <a:rPr lang="zh-CN" altLang="en-US" dirty="0"/>
              <a:t>疾病关系</a:t>
            </a:r>
            <a:endParaRPr lang="en" altLang="zh-CN" dirty="0"/>
          </a:p>
          <a:p>
            <a:r>
              <a:rPr lang="en" altLang="zh-CN" dirty="0"/>
              <a:t>Identification of Drug-Disease Associations Using Information of Molecular Structures and Clinical Symptoms via Deep Convolutional Neural Network</a:t>
            </a:r>
          </a:p>
          <a:p>
            <a:r>
              <a:rPr lang="zh-CN" altLang="en-US" dirty="0"/>
              <a:t>使用</a:t>
            </a:r>
            <a:r>
              <a:rPr lang="en-US" altLang="zh-CN" dirty="0"/>
              <a:t>CTD</a:t>
            </a:r>
            <a:r>
              <a:rPr lang="zh-CN" altLang="en-US" dirty="0"/>
              <a:t>数据库中已知的药物</a:t>
            </a:r>
            <a:r>
              <a:rPr lang="en-US" altLang="zh-CN" dirty="0"/>
              <a:t>-</a:t>
            </a:r>
            <a:r>
              <a:rPr lang="zh-CN" altLang="en-US" dirty="0"/>
              <a:t>疾病关联数据，发现新的药物疾病关系</a:t>
            </a:r>
          </a:p>
        </p:txBody>
      </p:sp>
    </p:spTree>
    <p:extLst>
      <p:ext uri="{BB962C8B-B14F-4D97-AF65-F5344CB8AC3E}">
        <p14:creationId xmlns:p14="http://schemas.microsoft.com/office/powerpoint/2010/main" val="2388091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11B7D-9319-2C93-6AD4-115AFFE14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5FCF8C2-234C-5D6A-E38B-440FE942DCD7}"/>
              </a:ext>
            </a:extLst>
          </p:cNvPr>
          <p:cNvSpPr/>
          <p:nvPr/>
        </p:nvSpPr>
        <p:spPr>
          <a:xfrm>
            <a:off x="-12700" y="18256"/>
            <a:ext cx="5329451" cy="66278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3BC8DDB-84C9-4B97-1CC5-F92454DD24C3}"/>
              </a:ext>
            </a:extLst>
          </p:cNvPr>
          <p:cNvGrpSpPr/>
          <p:nvPr/>
        </p:nvGrpSpPr>
        <p:grpSpPr>
          <a:xfrm>
            <a:off x="10417331" y="470173"/>
            <a:ext cx="1568953" cy="409337"/>
            <a:chOff x="10423287" y="375693"/>
            <a:chExt cx="1568953" cy="409337"/>
          </a:xfrm>
        </p:grpSpPr>
        <p:pic>
          <p:nvPicPr>
            <p:cNvPr id="4" name="Picture 4">
              <a:extLst>
                <a:ext uri="{FF2B5EF4-FFF2-40B4-BE49-F238E27FC236}">
                  <a16:creationId xmlns:a16="http://schemas.microsoft.com/office/drawing/2014/main" id="{5284022D-653F-59D8-ADDB-AA17C35A9B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423287" y="375693"/>
              <a:ext cx="409336" cy="409336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>
              <a:extLst>
                <a:ext uri="{FF2B5EF4-FFF2-40B4-BE49-F238E27FC236}">
                  <a16:creationId xmlns:a16="http://schemas.microsoft.com/office/drawing/2014/main" id="{69673F1A-E041-EA05-AB2B-637C30DD0F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1091455" y="450511"/>
              <a:ext cx="900785" cy="237049"/>
            </a:xfrm>
            <a:prstGeom prst="rect">
              <a:avLst/>
            </a:prstGeom>
            <a:ln w="12700">
              <a:noFill/>
              <a:prstDash val="solid"/>
            </a:ln>
          </p:spPr>
        </p:pic>
        <p:cxnSp>
          <p:nvCxnSpPr>
            <p:cNvPr id="6" name="Connector 6">
              <a:extLst>
                <a:ext uri="{FF2B5EF4-FFF2-40B4-BE49-F238E27FC236}">
                  <a16:creationId xmlns:a16="http://schemas.microsoft.com/office/drawing/2014/main" id="{36E53084-B18E-C954-60ED-21D1B38078DA}"/>
                </a:ext>
              </a:extLst>
            </p:cNvPr>
            <p:cNvCxnSpPr/>
            <p:nvPr/>
          </p:nvCxnSpPr>
          <p:spPr>
            <a:xfrm rot="-2700000" flipV="1">
              <a:off x="10808795" y="435640"/>
              <a:ext cx="289444" cy="289444"/>
            </a:xfrm>
            <a:prstGeom prst="line">
              <a:avLst/>
            </a:prstGeom>
            <a:noFill/>
            <a:ln w="12700" cap="flat">
              <a:solidFill>
                <a:srgbClr val="00000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id="7" name="AutoShape 7">
            <a:extLst>
              <a:ext uri="{FF2B5EF4-FFF2-40B4-BE49-F238E27FC236}">
                <a16:creationId xmlns:a16="http://schemas.microsoft.com/office/drawing/2014/main" id="{8391B73D-A2FE-24D5-D57C-774F7C7E54DC}"/>
              </a:ext>
            </a:extLst>
          </p:cNvPr>
          <p:cNvSpPr/>
          <p:nvPr/>
        </p:nvSpPr>
        <p:spPr>
          <a:xfrm>
            <a:off x="199760" y="195898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A1DDA419-CD1D-6E7F-5EE7-C6DB695AB5AE}"/>
              </a:ext>
            </a:extLst>
          </p:cNvPr>
          <p:cNvSpPr/>
          <p:nvPr/>
        </p:nvSpPr>
        <p:spPr>
          <a:xfrm>
            <a:off x="-12700" y="29563"/>
            <a:ext cx="10278024" cy="873312"/>
          </a:xfrm>
          <a:prstGeom prst="rect">
            <a:avLst/>
          </a:prstGeom>
          <a:solidFill>
            <a:srgbClr val="FFC000"/>
          </a:solidFill>
          <a:ln w="12700" cap="flat">
            <a:noFill/>
            <a:prstDash val="solid"/>
          </a:ln>
          <a:effectLst>
            <a:outerShdw blurRad="38100" dist="38100" dir="2700000" algn="tr" rotWithShape="0">
              <a:srgbClr val="000000">
                <a:alpha val="40000"/>
              </a:srgbClr>
            </a:outerShdw>
          </a:effectLst>
        </p:spPr>
        <p:txBody>
          <a:bodyPr lIns="95250" tIns="47625" rIns="95250" bIns="47625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BA6B7909-6489-52D8-2543-C691C6691F28}"/>
              </a:ext>
            </a:extLst>
          </p:cNvPr>
          <p:cNvSpPr/>
          <p:nvPr/>
        </p:nvSpPr>
        <p:spPr>
          <a:xfrm>
            <a:off x="199760" y="239867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46268692-2AAD-8C5A-F32E-9E0FCA0C758D}"/>
              </a:ext>
            </a:extLst>
          </p:cNvPr>
          <p:cNvSpPr/>
          <p:nvPr/>
        </p:nvSpPr>
        <p:spPr>
          <a:xfrm>
            <a:off x="205716" y="49969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污染物数据库（曾博义）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5A58F69-11D2-428F-5B41-26235EE7B247}"/>
              </a:ext>
            </a:extLst>
          </p:cNvPr>
          <p:cNvSpPr txBox="1"/>
          <p:nvPr/>
        </p:nvSpPr>
        <p:spPr>
          <a:xfrm>
            <a:off x="1860884" y="1351508"/>
            <a:ext cx="4685898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kumimoji="1" lang="zh-CN" altLang="en-US" sz="3600" dirty="0"/>
              <a:t>数据库信息</a:t>
            </a:r>
            <a:endParaRPr kumimoji="1" lang="en-US" altLang="zh-CN" sz="3600" dirty="0"/>
          </a:p>
          <a:p>
            <a:pPr marL="342900" indent="-342900">
              <a:buFont typeface="+mj-lt"/>
              <a:buAutoNum type="arabicPeriod"/>
            </a:pPr>
            <a:endParaRPr kumimoji="1" lang="en-US" altLang="zh-CN" sz="3600" dirty="0"/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3600" dirty="0"/>
              <a:t>论文调研</a:t>
            </a:r>
            <a:endParaRPr kumimoji="1" lang="en-US" altLang="zh-CN" sz="3600" dirty="0"/>
          </a:p>
          <a:p>
            <a:pPr marL="342900" indent="-342900">
              <a:buFont typeface="+mj-lt"/>
              <a:buAutoNum type="arabicPeriod"/>
            </a:pPr>
            <a:endParaRPr kumimoji="1" lang="en-US" altLang="zh-CN" sz="3600" dirty="0"/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3600" dirty="0"/>
              <a:t>已有关系预测结果</a:t>
            </a:r>
            <a:endParaRPr kumimoji="1" lang="en-US" altLang="zh-CN" sz="3600" dirty="0"/>
          </a:p>
          <a:p>
            <a:pPr marL="342900" indent="-342900">
              <a:buFont typeface="+mj-lt"/>
              <a:buAutoNum type="arabicPeriod"/>
            </a:pPr>
            <a:endParaRPr kumimoji="1" lang="en-US" altLang="zh-CN" sz="3600" dirty="0"/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3600" dirty="0">
                <a:solidFill>
                  <a:srgbClr val="FF0000"/>
                </a:solidFill>
              </a:rPr>
              <a:t>新增关系文献支持率</a:t>
            </a:r>
          </a:p>
        </p:txBody>
      </p:sp>
    </p:spTree>
    <p:extLst>
      <p:ext uri="{BB962C8B-B14F-4D97-AF65-F5344CB8AC3E}">
        <p14:creationId xmlns:p14="http://schemas.microsoft.com/office/powerpoint/2010/main" val="4032269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0872C-A697-E108-11BD-DD786D866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702DC84-A2C5-8F5B-6239-B025DE10D165}"/>
              </a:ext>
            </a:extLst>
          </p:cNvPr>
          <p:cNvSpPr/>
          <p:nvPr/>
        </p:nvSpPr>
        <p:spPr>
          <a:xfrm>
            <a:off x="-12700" y="18256"/>
            <a:ext cx="5329451" cy="66278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DB04D50-A08D-755B-46E3-055A5B1028C1}"/>
              </a:ext>
            </a:extLst>
          </p:cNvPr>
          <p:cNvGrpSpPr/>
          <p:nvPr/>
        </p:nvGrpSpPr>
        <p:grpSpPr>
          <a:xfrm>
            <a:off x="10417331" y="470173"/>
            <a:ext cx="1568953" cy="409337"/>
            <a:chOff x="10423287" y="375693"/>
            <a:chExt cx="1568953" cy="409337"/>
          </a:xfrm>
        </p:grpSpPr>
        <p:pic>
          <p:nvPicPr>
            <p:cNvPr id="4" name="Picture 4">
              <a:extLst>
                <a:ext uri="{FF2B5EF4-FFF2-40B4-BE49-F238E27FC236}">
                  <a16:creationId xmlns:a16="http://schemas.microsoft.com/office/drawing/2014/main" id="{3FAC5586-E10E-9E65-9EEA-A35A9170D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423287" y="375693"/>
              <a:ext cx="409336" cy="409336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>
              <a:extLst>
                <a:ext uri="{FF2B5EF4-FFF2-40B4-BE49-F238E27FC236}">
                  <a16:creationId xmlns:a16="http://schemas.microsoft.com/office/drawing/2014/main" id="{5F0C2C06-E8A5-E583-B44A-E23AE52412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1091455" y="450511"/>
              <a:ext cx="900785" cy="237049"/>
            </a:xfrm>
            <a:prstGeom prst="rect">
              <a:avLst/>
            </a:prstGeom>
            <a:ln w="12700">
              <a:noFill/>
              <a:prstDash val="solid"/>
            </a:ln>
          </p:spPr>
        </p:pic>
        <p:cxnSp>
          <p:nvCxnSpPr>
            <p:cNvPr id="6" name="Connector 6">
              <a:extLst>
                <a:ext uri="{FF2B5EF4-FFF2-40B4-BE49-F238E27FC236}">
                  <a16:creationId xmlns:a16="http://schemas.microsoft.com/office/drawing/2014/main" id="{DC74718E-31F7-9B9A-EF52-A887A0910D54}"/>
                </a:ext>
              </a:extLst>
            </p:cNvPr>
            <p:cNvCxnSpPr/>
            <p:nvPr/>
          </p:nvCxnSpPr>
          <p:spPr>
            <a:xfrm rot="-2700000" flipV="1">
              <a:off x="10808795" y="435640"/>
              <a:ext cx="289444" cy="289444"/>
            </a:xfrm>
            <a:prstGeom prst="line">
              <a:avLst/>
            </a:prstGeom>
            <a:noFill/>
            <a:ln w="12700" cap="flat">
              <a:solidFill>
                <a:srgbClr val="00000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id="7" name="AutoShape 7">
            <a:extLst>
              <a:ext uri="{FF2B5EF4-FFF2-40B4-BE49-F238E27FC236}">
                <a16:creationId xmlns:a16="http://schemas.microsoft.com/office/drawing/2014/main" id="{B268B44B-E1CE-F6BB-029D-425280D8E90C}"/>
              </a:ext>
            </a:extLst>
          </p:cNvPr>
          <p:cNvSpPr/>
          <p:nvPr/>
        </p:nvSpPr>
        <p:spPr>
          <a:xfrm>
            <a:off x="199760" y="195898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62F55FF8-0E84-FC4F-F0ED-E782A23B9FC1}"/>
              </a:ext>
            </a:extLst>
          </p:cNvPr>
          <p:cNvSpPr/>
          <p:nvPr/>
        </p:nvSpPr>
        <p:spPr>
          <a:xfrm>
            <a:off x="0" y="51658"/>
            <a:ext cx="10278024" cy="873312"/>
          </a:xfrm>
          <a:prstGeom prst="rect">
            <a:avLst/>
          </a:prstGeom>
          <a:solidFill>
            <a:srgbClr val="FFC000"/>
          </a:solidFill>
          <a:ln w="12700" cap="flat">
            <a:noFill/>
            <a:prstDash val="solid"/>
          </a:ln>
          <a:effectLst>
            <a:outerShdw blurRad="38100" dist="38100" dir="2700000" algn="tr" rotWithShape="0">
              <a:srgbClr val="000000">
                <a:alpha val="40000"/>
              </a:srgbClr>
            </a:outerShdw>
          </a:effectLst>
        </p:spPr>
        <p:txBody>
          <a:bodyPr lIns="95250" tIns="47625" rIns="95250" bIns="47625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CC286E9E-DC33-3F00-4B1D-833F87C7C5BC}"/>
              </a:ext>
            </a:extLst>
          </p:cNvPr>
          <p:cNvSpPr/>
          <p:nvPr/>
        </p:nvSpPr>
        <p:spPr>
          <a:xfrm>
            <a:off x="199760" y="239867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AE4FBAE1-0F40-64B5-1201-1ACA8BF470DC}"/>
              </a:ext>
            </a:extLst>
          </p:cNvPr>
          <p:cNvSpPr/>
          <p:nvPr/>
        </p:nvSpPr>
        <p:spPr>
          <a:xfrm>
            <a:off x="193804" y="100468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污染物数据库（曾博义）</a:t>
            </a:r>
          </a:p>
        </p:txBody>
      </p:sp>
      <p:graphicFrame>
        <p:nvGraphicFramePr>
          <p:cNvPr id="12" name="表格 16">
            <a:extLst>
              <a:ext uri="{FF2B5EF4-FFF2-40B4-BE49-F238E27FC236}">
                <a16:creationId xmlns:a16="http://schemas.microsoft.com/office/drawing/2014/main" id="{31B18509-B243-6EDE-141C-0C7E97A38B22}"/>
              </a:ext>
            </a:extLst>
          </p:cNvPr>
          <p:cNvGraphicFramePr>
            <a:graphicFrameLocks noGrp="1"/>
          </p:cNvGraphicFramePr>
          <p:nvPr/>
        </p:nvGraphicFramePr>
        <p:xfrm>
          <a:off x="10417331" y="984174"/>
          <a:ext cx="156895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470">
                  <a:extLst>
                    <a:ext uri="{9D8B030D-6E8A-4147-A177-3AD203B41FA5}">
                      <a16:colId xmlns:a16="http://schemas.microsoft.com/office/drawing/2014/main" val="1243722429"/>
                    </a:ext>
                  </a:extLst>
                </a:gridCol>
                <a:gridCol w="632484">
                  <a:extLst>
                    <a:ext uri="{9D8B030D-6E8A-4147-A177-3AD203B41FA5}">
                      <a16:colId xmlns:a16="http://schemas.microsoft.com/office/drawing/2014/main" val="3658888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新任务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0" dirty="0">
                        <a:solidFill>
                          <a:srgbClr val="C00000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478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新功能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1" dirty="0">
                        <a:solidFill>
                          <a:srgbClr val="C00000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623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新指标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>
                          <a:solidFill>
                            <a:srgbClr val="C00000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150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新调研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9172803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EFD39CBC-29CF-4C97-E14A-F122EC1EB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482264"/>
              </p:ext>
            </p:extLst>
          </p:nvPr>
        </p:nvGraphicFramePr>
        <p:xfrm>
          <a:off x="6424019" y="2787450"/>
          <a:ext cx="3795628" cy="265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2287">
                  <a:extLst>
                    <a:ext uri="{9D8B030D-6E8A-4147-A177-3AD203B41FA5}">
                      <a16:colId xmlns:a16="http://schemas.microsoft.com/office/drawing/2014/main" val="711483786"/>
                    </a:ext>
                  </a:extLst>
                </a:gridCol>
                <a:gridCol w="1118323">
                  <a:extLst>
                    <a:ext uri="{9D8B030D-6E8A-4147-A177-3AD203B41FA5}">
                      <a16:colId xmlns:a16="http://schemas.microsoft.com/office/drawing/2014/main" val="4132533459"/>
                    </a:ext>
                  </a:extLst>
                </a:gridCol>
                <a:gridCol w="1095018">
                  <a:extLst>
                    <a:ext uri="{9D8B030D-6E8A-4147-A177-3AD203B41FA5}">
                      <a16:colId xmlns:a16="http://schemas.microsoft.com/office/drawing/2014/main" val="4117582630"/>
                    </a:ext>
                  </a:extLst>
                </a:gridCol>
              </a:tblGrid>
              <a:tr h="5283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Method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dirty="0"/>
                        <a:t>GCN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dirty="0"/>
                        <a:t>MLP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9743062"/>
                  </a:ext>
                </a:extLst>
              </a:tr>
              <a:tr h="707508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2000" dirty="0"/>
                        <a:t>Acc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dirty="0"/>
                        <a:t>0.96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dirty="0"/>
                        <a:t>0.94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1682851"/>
                  </a:ext>
                </a:extLst>
              </a:tr>
              <a:tr h="707508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2000" dirty="0"/>
                        <a:t>Recall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dirty="0"/>
                        <a:t>0.88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dirty="0"/>
                        <a:t>0.94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771189"/>
                  </a:ext>
                </a:extLst>
              </a:tr>
              <a:tr h="707508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2000" dirty="0"/>
                        <a:t>F1 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dirty="0"/>
                        <a:t>0.74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dirty="0"/>
                        <a:t>0.94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855879"/>
                  </a:ext>
                </a:extLst>
              </a:tr>
            </a:tbl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B197A88C-FAB9-5DBB-0105-3954F905E641}"/>
              </a:ext>
            </a:extLst>
          </p:cNvPr>
          <p:cNvSpPr txBox="1"/>
          <p:nvPr/>
        </p:nvSpPr>
        <p:spPr>
          <a:xfrm>
            <a:off x="6096000" y="1710346"/>
            <a:ext cx="42370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在</a:t>
            </a:r>
            <a:r>
              <a:rPr kumimoji="1" lang="en-US" altLang="zh-CN" sz="2000" dirty="0"/>
              <a:t> CTD</a:t>
            </a:r>
            <a:r>
              <a:rPr kumimoji="1" lang="zh-CN" altLang="en-US" sz="2000" dirty="0"/>
              <a:t>有直接证据的 </a:t>
            </a:r>
            <a:r>
              <a:rPr kumimoji="1" lang="en-US" altLang="zh-CN" sz="2000" dirty="0"/>
              <a:t>108217 </a:t>
            </a:r>
            <a:r>
              <a:rPr kumimoji="1" lang="zh-CN" altLang="en-US" sz="2000" dirty="0"/>
              <a:t>条关系</a:t>
            </a:r>
            <a:endParaRPr kumimoji="1" lang="en-US" altLang="zh-CN" sz="2000" dirty="0"/>
          </a:p>
          <a:p>
            <a:r>
              <a:rPr kumimoji="1" lang="zh-CN" altLang="en-US" sz="2000" dirty="0"/>
              <a:t>数据上，两类关系预测的结果：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39439B14-35A0-860B-B177-2BBBDF4C68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978004"/>
              </p:ext>
            </p:extLst>
          </p:nvPr>
        </p:nvGraphicFramePr>
        <p:xfrm>
          <a:off x="230551" y="2787450"/>
          <a:ext cx="5604160" cy="265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1040">
                  <a:extLst>
                    <a:ext uri="{9D8B030D-6E8A-4147-A177-3AD203B41FA5}">
                      <a16:colId xmlns:a16="http://schemas.microsoft.com/office/drawing/2014/main" val="2128371514"/>
                    </a:ext>
                  </a:extLst>
                </a:gridCol>
                <a:gridCol w="1401040">
                  <a:extLst>
                    <a:ext uri="{9D8B030D-6E8A-4147-A177-3AD203B41FA5}">
                      <a16:colId xmlns:a16="http://schemas.microsoft.com/office/drawing/2014/main" val="2504218399"/>
                    </a:ext>
                  </a:extLst>
                </a:gridCol>
                <a:gridCol w="1401040">
                  <a:extLst>
                    <a:ext uri="{9D8B030D-6E8A-4147-A177-3AD203B41FA5}">
                      <a16:colId xmlns:a16="http://schemas.microsoft.com/office/drawing/2014/main" val="4019741230"/>
                    </a:ext>
                  </a:extLst>
                </a:gridCol>
                <a:gridCol w="1401040">
                  <a:extLst>
                    <a:ext uri="{9D8B030D-6E8A-4147-A177-3AD203B41FA5}">
                      <a16:colId xmlns:a16="http://schemas.microsoft.com/office/drawing/2014/main" val="223924022"/>
                    </a:ext>
                  </a:extLst>
                </a:gridCol>
              </a:tblGrid>
              <a:tr h="1227954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Method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/>
                        <a:t>Accuracy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F1</a:t>
                      </a:r>
                      <a:r>
                        <a:rPr lang="en-US" altLang="zh-CN" sz="2000" dirty="0"/>
                        <a:t>-Score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570709"/>
                  </a:ext>
                </a:extLst>
              </a:tr>
              <a:tr h="711435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GCN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2000" dirty="0"/>
                        <a:t>0.7520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2000" dirty="0"/>
                        <a:t>0.7096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2000" dirty="0"/>
                        <a:t>0.6462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074881"/>
                  </a:ext>
                </a:extLst>
              </a:tr>
              <a:tr h="711435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MLP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0.7716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0.7170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0.7211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889495"/>
                  </a:ext>
                </a:extLst>
              </a:tr>
            </a:tbl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425B768C-521D-E8FD-9D80-798AFAD697D5}"/>
              </a:ext>
            </a:extLst>
          </p:cNvPr>
          <p:cNvSpPr txBox="1"/>
          <p:nvPr/>
        </p:nvSpPr>
        <p:spPr>
          <a:xfrm>
            <a:off x="491840" y="1797250"/>
            <a:ext cx="48249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/>
              <a:t>有直接证据的</a:t>
            </a:r>
            <a:r>
              <a:rPr kumimoji="1" lang="en-US" altLang="zh-CN" sz="2000" dirty="0"/>
              <a:t> CTD </a:t>
            </a:r>
            <a:r>
              <a:rPr kumimoji="1" lang="zh-CN" altLang="en-US" sz="2000" dirty="0"/>
              <a:t>上，多类别关系预测结果：</a:t>
            </a:r>
          </a:p>
        </p:txBody>
      </p:sp>
    </p:spTree>
    <p:extLst>
      <p:ext uri="{BB962C8B-B14F-4D97-AF65-F5344CB8AC3E}">
        <p14:creationId xmlns:p14="http://schemas.microsoft.com/office/powerpoint/2010/main" val="2251217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658"/>
            <a:ext cx="10278024" cy="87331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3804" y="100468"/>
            <a:ext cx="9728557" cy="8699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微软雅黑"/>
              </a:rPr>
              <a:t>污染物数据库（曾博义）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205715" y="935410"/>
            <a:ext cx="10072309" cy="81393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-93127" y="835000"/>
            <a:ext cx="10603586" cy="787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/>
              <a:buChar char="l"/>
            </a:pPr>
            <a:r>
              <a:rPr sz="1600" b="1" dirty="0" err="1">
                <a:latin typeface="Microsoft YaHei"/>
                <a:ea typeface="Microsoft YaHei"/>
              </a:rPr>
              <a:t>本周增量</a:t>
            </a:r>
            <a:r>
              <a:rPr sz="1600" b="0" dirty="0" err="1">
                <a:latin typeface="Microsoft YaHei"/>
                <a:ea typeface="Microsoft YaHei"/>
              </a:rPr>
              <a:t>：探究预测置信度与文献支持率的关系。对按预测概率降序排列的三元组，每隔</a:t>
            </a:r>
            <a:r>
              <a:rPr sz="1600" b="0" dirty="0">
                <a:latin typeface="Microsoft YaHei"/>
                <a:ea typeface="Microsoft YaHei"/>
              </a:rPr>
              <a:t> 1 </a:t>
            </a:r>
            <a:r>
              <a:rPr sz="1600" b="0" dirty="0" err="1">
                <a:latin typeface="Microsoft YaHei"/>
                <a:ea typeface="Microsoft YaHei"/>
              </a:rPr>
              <a:t>万条采样</a:t>
            </a:r>
            <a:r>
              <a:rPr sz="1600" b="0" dirty="0">
                <a:latin typeface="Microsoft YaHei"/>
                <a:ea typeface="Microsoft YaHei"/>
              </a:rPr>
              <a:t> 100 </a:t>
            </a:r>
            <a:r>
              <a:rPr sz="1600" b="0" dirty="0" err="1">
                <a:latin typeface="Microsoft YaHei"/>
                <a:ea typeface="Microsoft YaHei"/>
              </a:rPr>
              <a:t>条统计文献支持率，排名前</a:t>
            </a:r>
            <a:r>
              <a:rPr sz="1600" b="0" dirty="0">
                <a:latin typeface="Microsoft YaHei"/>
                <a:ea typeface="Microsoft YaHei"/>
              </a:rPr>
              <a:t> 100 </a:t>
            </a:r>
            <a:r>
              <a:rPr sz="1600" b="0" dirty="0" err="1">
                <a:latin typeface="Microsoft YaHei"/>
                <a:ea typeface="Microsoft YaHei"/>
              </a:rPr>
              <a:t>条</a:t>
            </a:r>
            <a:r>
              <a:rPr sz="1600" b="0" dirty="0">
                <a:latin typeface="Microsoft YaHei"/>
                <a:ea typeface="Microsoft YaHei"/>
              </a:rPr>
              <a:t>（</a:t>
            </a:r>
            <a:r>
              <a:rPr lang="zh-CN" altLang="en-US" sz="1600" b="0" dirty="0">
                <a:latin typeface="Microsoft YaHei"/>
                <a:ea typeface="Microsoft YaHei"/>
              </a:rPr>
              <a:t>预测</a:t>
            </a:r>
            <a:r>
              <a:rPr sz="1600" b="0" dirty="0">
                <a:latin typeface="Microsoft YaHei"/>
                <a:ea typeface="Microsoft YaHei"/>
              </a:rPr>
              <a:t>概率≈0.99）支持率显著偏高（38%），rank 1 </a:t>
            </a:r>
            <a:r>
              <a:rPr sz="1600" b="0" dirty="0" err="1">
                <a:latin typeface="Microsoft YaHei"/>
                <a:ea typeface="Microsoft YaHei"/>
              </a:rPr>
              <a:t>万之后稳定在约</a:t>
            </a:r>
            <a:r>
              <a:rPr sz="1600" b="0" dirty="0">
                <a:latin typeface="Microsoft YaHei"/>
                <a:ea typeface="Microsoft YaHei"/>
              </a:rPr>
              <a:t> 16%。</a:t>
            </a:r>
          </a:p>
        </p:txBody>
      </p:sp>
      <p:pic>
        <p:nvPicPr>
          <p:cNvPr id="6" name="Picture 5" descr="prob_vs_lit_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954" y="1862678"/>
            <a:ext cx="7761189" cy="45364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-12701" y="6280000"/>
            <a:ext cx="10746015" cy="49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/>
              <a:buChar char="l"/>
            </a:pPr>
            <a:r>
              <a:rPr sz="2000" b="1" dirty="0" err="1">
                <a:latin typeface="Microsoft YaHei"/>
                <a:ea typeface="Microsoft YaHei"/>
              </a:rPr>
              <a:t>下周计划</a:t>
            </a:r>
            <a:r>
              <a:rPr sz="2000" b="0" dirty="0" err="1">
                <a:latin typeface="Microsoft YaHei"/>
                <a:ea typeface="Microsoft YaHei"/>
              </a:rPr>
              <a:t>：扩大每窗口样本量以验证统计显著性</a:t>
            </a:r>
            <a:endParaRPr sz="2000" b="0" dirty="0">
              <a:latin typeface="Microsoft YaHei"/>
              <a:ea typeface="Microsoft YaHei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417331" y="984174"/>
          <a:ext cx="1568954" cy="1483360"/>
        </p:xfrm>
        <a:graphic>
          <a:graphicData uri="http://schemas.openxmlformats.org/drawingml/2006/table">
            <a:tbl>
              <a:tblPr/>
              <a:tblGrid>
                <a:gridCol w="936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KaiTi"/>
                          <a:ea typeface="KaiTi"/>
                        </a:rPr>
                        <a:t>新任务</a:t>
                      </a:r>
                    </a:p>
                  </a:txBody>
                  <a:tcPr marL="20000" marR="2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0000" marR="20000" marT="10000" marB="1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KaiTi"/>
                          <a:ea typeface="KaiTi"/>
                        </a:rPr>
                        <a:t>新功能</a:t>
                      </a:r>
                    </a:p>
                  </a:txBody>
                  <a:tcPr marL="20000" marR="2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0000" marR="20000" marT="10000" marB="1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KaiTi"/>
                          <a:ea typeface="KaiTi"/>
                        </a:rPr>
                        <a:t>新指标</a:t>
                      </a:r>
                    </a:p>
                  </a:txBody>
                  <a:tcPr marL="20000" marR="2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0000" marR="20000" marT="10000" marB="1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KaiTi"/>
                          <a:ea typeface="KaiTi"/>
                        </a:rPr>
                        <a:t>新调研</a:t>
                      </a:r>
                    </a:p>
                  </a:txBody>
                  <a:tcPr marL="20000" marR="20000" marT="10000" marB="10000" anchor="ctr">
                    <a:solidFill>
                      <a:srgbClr val="E6D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00000"/>
                          </a:solidFill>
                          <a:latin typeface="KaiTi"/>
                          <a:ea typeface="KaiTi"/>
                        </a:rPr>
                        <a:t>√</a:t>
                      </a:r>
                    </a:p>
                  </a:txBody>
                  <a:tcPr marL="20000" marR="20000" marT="10000" marB="10000" anchor="ctr">
                    <a:solidFill>
                      <a:srgbClr val="E6D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" name="Picture 8" descr="ctd_logo_d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7331" y="470173"/>
            <a:ext cx="409336" cy="409336"/>
          </a:xfrm>
          <a:prstGeom prst="rect">
            <a:avLst/>
          </a:prstGeom>
        </p:spPr>
      </p:pic>
      <p:pic>
        <p:nvPicPr>
          <p:cNvPr id="10" name="Picture 9" descr="ctd_logo_tex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5499" y="544991"/>
            <a:ext cx="900785" cy="23704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658"/>
            <a:ext cx="10278024" cy="87331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3804" y="100468"/>
            <a:ext cx="9728557" cy="8699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微软雅黑"/>
              </a:rPr>
              <a:t>污染物数据库（曾博义）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205715" y="935410"/>
            <a:ext cx="10072309" cy="90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-93128" y="845000"/>
            <a:ext cx="10750617" cy="683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5000"/>
              </a:lnSpc>
              <a:buFont typeface="Wingdings"/>
              <a:buChar char="l"/>
            </a:pPr>
            <a:r>
              <a:rPr sz="1500" b="1" dirty="0" err="1">
                <a:latin typeface="Microsoft YaHei"/>
                <a:ea typeface="Microsoft YaHei"/>
              </a:rPr>
              <a:t>本周增量</a:t>
            </a:r>
            <a:r>
              <a:rPr sz="1500" b="0" dirty="0" err="1">
                <a:latin typeface="Microsoft YaHei"/>
                <a:ea typeface="Microsoft YaHei"/>
              </a:rPr>
              <a:t>：将文献验证规模从每窗口</a:t>
            </a:r>
            <a:r>
              <a:rPr sz="1500" b="0" dirty="0">
                <a:latin typeface="Microsoft YaHei"/>
                <a:ea typeface="Microsoft YaHei"/>
              </a:rPr>
              <a:t> 100 </a:t>
            </a:r>
            <a:r>
              <a:rPr sz="1500" b="0" dirty="0" err="1">
                <a:latin typeface="Microsoft YaHei"/>
                <a:ea typeface="Microsoft YaHei"/>
              </a:rPr>
              <a:t>扩大到</a:t>
            </a:r>
            <a:r>
              <a:rPr sz="1500" b="0" dirty="0">
                <a:latin typeface="Microsoft YaHei"/>
                <a:ea typeface="Microsoft YaHei"/>
              </a:rPr>
              <a:t> 1000（共核验 7000 </a:t>
            </a:r>
            <a:r>
              <a:rPr sz="1500" b="0" dirty="0" err="1">
                <a:latin typeface="Microsoft YaHei"/>
                <a:ea typeface="Microsoft YaHei"/>
              </a:rPr>
              <a:t>条预测</a:t>
            </a:r>
            <a:r>
              <a:rPr sz="1500" b="0" dirty="0">
                <a:latin typeface="Microsoft YaHei"/>
                <a:ea typeface="Microsoft YaHei"/>
              </a:rPr>
              <a:t>）。</a:t>
            </a:r>
            <a:r>
              <a:rPr sz="1500" b="0" dirty="0" err="1">
                <a:latin typeface="Microsoft YaHei"/>
                <a:ea typeface="Microsoft YaHei"/>
              </a:rPr>
              <a:t>结果显示预测置信度越高越易找到支撑文献</a:t>
            </a:r>
            <a:r>
              <a:rPr sz="1500" b="0" dirty="0">
                <a:latin typeface="Microsoft YaHei"/>
                <a:ea typeface="Microsoft YaHei"/>
              </a:rPr>
              <a:t>——</a:t>
            </a:r>
            <a:r>
              <a:rPr sz="1500" b="0" dirty="0" err="1">
                <a:latin typeface="Microsoft YaHei"/>
                <a:ea typeface="Microsoft YaHei"/>
              </a:rPr>
              <a:t>前</a:t>
            </a:r>
            <a:r>
              <a:rPr sz="1500" b="0" dirty="0">
                <a:latin typeface="Microsoft YaHei"/>
                <a:ea typeface="Microsoft YaHei"/>
              </a:rPr>
              <a:t> 6 </a:t>
            </a:r>
            <a:r>
              <a:rPr sz="1500" b="0" dirty="0" err="1">
                <a:latin typeface="Microsoft YaHei"/>
                <a:ea typeface="Microsoft YaHei"/>
              </a:rPr>
              <a:t>个窗口支持率从</a:t>
            </a:r>
            <a:r>
              <a:rPr sz="1500" b="0" dirty="0">
                <a:latin typeface="Microsoft YaHei"/>
                <a:ea typeface="Microsoft YaHei"/>
              </a:rPr>
              <a:t> 30.4% </a:t>
            </a:r>
            <a:r>
              <a:rPr sz="1500" b="0" dirty="0" err="1">
                <a:latin typeface="Microsoft YaHei"/>
                <a:ea typeface="Microsoft YaHei"/>
              </a:rPr>
              <a:t>单调降至</a:t>
            </a:r>
            <a:r>
              <a:rPr sz="1500" b="0" dirty="0">
                <a:latin typeface="Microsoft YaHei"/>
                <a:ea typeface="Microsoft YaHei"/>
              </a:rPr>
              <a:t> 14.4%（Spearman </a:t>
            </a:r>
            <a:r>
              <a:rPr sz="1500" b="0" dirty="0" err="1">
                <a:latin typeface="Microsoft YaHei"/>
                <a:ea typeface="Microsoft YaHei"/>
              </a:rPr>
              <a:t>ρ</a:t>
            </a:r>
            <a:r>
              <a:rPr sz="1500" b="0" dirty="0">
                <a:latin typeface="Microsoft YaHei"/>
                <a:ea typeface="Microsoft YaHei"/>
              </a:rPr>
              <a:t>=1.00），</a:t>
            </a:r>
            <a:r>
              <a:rPr sz="1500" b="0" dirty="0" err="1">
                <a:latin typeface="Microsoft YaHei"/>
                <a:ea typeface="Microsoft YaHei"/>
              </a:rPr>
              <a:t>仅最低置信度窗口小幅回升至</a:t>
            </a:r>
            <a:r>
              <a:rPr sz="1500" b="0" dirty="0">
                <a:latin typeface="Microsoft YaHei"/>
                <a:ea typeface="Microsoft YaHei"/>
              </a:rPr>
              <a:t> 17.8</a:t>
            </a:r>
            <a:r>
              <a:rPr lang="en-US" sz="1500" b="0" dirty="0">
                <a:latin typeface="Microsoft YaHei"/>
                <a:ea typeface="Microsoft YaHei"/>
              </a:rPr>
              <a:t>%</a:t>
            </a:r>
            <a:r>
              <a:rPr sz="1500" b="0" dirty="0"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6" name="Picture 5" descr="prob_vs_lit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00" y="1880000"/>
            <a:ext cx="9424505" cy="43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-12701" y="6300000"/>
            <a:ext cx="11000000" cy="427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5000"/>
              </a:lnSpc>
              <a:buFont typeface="Wingdings"/>
              <a:buChar char="l"/>
            </a:pPr>
            <a:r>
              <a:rPr sz="1800" b="1" dirty="0" err="1">
                <a:latin typeface="Microsoft YaHei"/>
                <a:ea typeface="Microsoft YaHei"/>
              </a:rPr>
              <a:t>下周计划</a:t>
            </a:r>
            <a:r>
              <a:rPr sz="1800" b="0" dirty="0" err="1">
                <a:latin typeface="Microsoft YaHei"/>
                <a:ea typeface="Microsoft YaHei"/>
              </a:rPr>
              <a:t>：分析</a:t>
            </a:r>
            <a:r>
              <a:rPr lang="en-US" sz="1800" b="0" dirty="0" err="1">
                <a:latin typeface="Microsoft YaHei"/>
                <a:ea typeface="Microsoft YaHei"/>
              </a:rPr>
              <a:t>最后一个窗口支撑率提升的原因</a:t>
            </a:r>
            <a:endParaRPr sz="1800" b="0" dirty="0">
              <a:latin typeface="Microsoft YaHei"/>
              <a:ea typeface="Microsoft YaHei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417331" y="984174"/>
          <a:ext cx="1568954" cy="1483360"/>
        </p:xfrm>
        <a:graphic>
          <a:graphicData uri="http://schemas.openxmlformats.org/drawingml/2006/table">
            <a:tbl>
              <a:tblPr/>
              <a:tblGrid>
                <a:gridCol w="936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KaiTi"/>
                          <a:ea typeface="KaiTi"/>
                        </a:rPr>
                        <a:t>新任务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KaiTi"/>
                          <a:ea typeface="KaiTi"/>
                        </a:rPr>
                        <a:t>新功能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KaiTi"/>
                          <a:ea typeface="KaiTi"/>
                        </a:rPr>
                        <a:t>新指标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KaiTi"/>
                          <a:ea typeface="KaiTi"/>
                        </a:rPr>
                        <a:t>新调研</a:t>
                      </a:r>
                    </a:p>
                  </a:txBody>
                  <a:tcPr anchor="ctr">
                    <a:solidFill>
                      <a:srgbClr val="E6D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00000"/>
                          </a:solidFill>
                          <a:latin typeface="KaiTi"/>
                          <a:ea typeface="KaiTi"/>
                        </a:rPr>
                        <a:t>√</a:t>
                      </a:r>
                    </a:p>
                  </a:txBody>
                  <a:tcPr anchor="ctr">
                    <a:solidFill>
                      <a:srgbClr val="E6D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" name="Picture 8" descr="ctd_logo_d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7331" y="470173"/>
            <a:ext cx="409336" cy="409336"/>
          </a:xfrm>
          <a:prstGeom prst="rect">
            <a:avLst/>
          </a:prstGeom>
        </p:spPr>
      </p:pic>
      <p:pic>
        <p:nvPicPr>
          <p:cNvPr id="10" name="Picture 9" descr="ctd_logo_tex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5499" y="544991"/>
            <a:ext cx="900785" cy="23704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658"/>
            <a:ext cx="10278024" cy="87331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3804" y="100468"/>
            <a:ext cx="9728557" cy="8699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微软雅黑"/>
              </a:rPr>
              <a:t>污染物数据库（曾博义）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205715" y="935410"/>
            <a:ext cx="10072309" cy="90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-93127" y="845000"/>
            <a:ext cx="10603586" cy="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buFont typeface="Wingdings"/>
              <a:buChar char="l"/>
            </a:pPr>
            <a:r>
              <a:rPr sz="1500" b="1" dirty="0" err="1">
                <a:latin typeface="Microsoft YaHei"/>
                <a:ea typeface="Microsoft YaHei"/>
              </a:rPr>
              <a:t>本周增量</a:t>
            </a:r>
            <a:r>
              <a:rPr sz="1500" b="0" dirty="0" err="1">
                <a:latin typeface="Microsoft YaHei"/>
                <a:ea typeface="Microsoft YaHei"/>
              </a:rPr>
              <a:t>：构建模型无关的随机连边</a:t>
            </a:r>
            <a:r>
              <a:rPr sz="1500" b="0" dirty="0">
                <a:latin typeface="Microsoft YaHei"/>
                <a:ea typeface="Microsoft YaHei"/>
              </a:rPr>
              <a:t> baseline——</a:t>
            </a:r>
            <a:r>
              <a:rPr sz="1500" b="0" dirty="0" err="1">
                <a:latin typeface="Microsoft YaHei"/>
                <a:ea typeface="Microsoft YaHei"/>
              </a:rPr>
              <a:t>从</a:t>
            </a:r>
            <a:r>
              <a:rPr sz="1500" b="0" dirty="0">
                <a:latin typeface="Microsoft YaHei"/>
                <a:ea typeface="Microsoft YaHei"/>
              </a:rPr>
              <a:t> CSV </a:t>
            </a:r>
            <a:r>
              <a:rPr sz="1500" b="0" dirty="0" err="1">
                <a:latin typeface="Microsoft YaHei"/>
                <a:ea typeface="Microsoft YaHei"/>
              </a:rPr>
              <a:t>的</a:t>
            </a:r>
            <a:r>
              <a:rPr sz="1500" b="0" dirty="0">
                <a:latin typeface="Microsoft YaHei"/>
                <a:ea typeface="Microsoft YaHei"/>
              </a:rPr>
              <a:t> 16171 </a:t>
            </a:r>
            <a:r>
              <a:rPr sz="1500" b="0" dirty="0" err="1">
                <a:latin typeface="Microsoft YaHei"/>
                <a:ea typeface="Microsoft YaHei"/>
              </a:rPr>
              <a:t>个化合物</a:t>
            </a:r>
            <a:r>
              <a:rPr sz="1500" b="0" dirty="0">
                <a:latin typeface="Microsoft YaHei"/>
                <a:ea typeface="Microsoft YaHei"/>
              </a:rPr>
              <a:t> × 6193 </a:t>
            </a:r>
            <a:r>
              <a:rPr sz="1500" b="0" dirty="0" err="1">
                <a:latin typeface="Microsoft YaHei"/>
                <a:ea typeface="Microsoft YaHei"/>
              </a:rPr>
              <a:t>个疾病中随机配对</a:t>
            </a:r>
            <a:r>
              <a:rPr sz="1500" b="0" dirty="0">
                <a:latin typeface="Microsoft YaHei"/>
                <a:ea typeface="Microsoft YaHei"/>
              </a:rPr>
              <a:t> 1000 </a:t>
            </a:r>
            <a:r>
              <a:rPr sz="1500" b="0" dirty="0" err="1">
                <a:latin typeface="Microsoft YaHei"/>
                <a:ea typeface="Microsoft YaHei"/>
              </a:rPr>
              <a:t>条</a:t>
            </a:r>
            <a:r>
              <a:rPr lang="zh-CN" altLang="en-US" sz="1500" b="0" dirty="0">
                <a:latin typeface="Microsoft YaHei"/>
                <a:ea typeface="Microsoft YaHei"/>
              </a:rPr>
              <a:t>，</a:t>
            </a:r>
            <a:r>
              <a:rPr sz="1500" b="0" dirty="0" err="1">
                <a:latin typeface="Microsoft YaHei"/>
                <a:ea typeface="Microsoft YaHei"/>
              </a:rPr>
              <a:t>用相同方式</a:t>
            </a:r>
            <a:r>
              <a:rPr lang="zh-CN" altLang="en-US" sz="1500" b="0">
                <a:latin typeface="Microsoft YaHei"/>
                <a:ea typeface="Microsoft YaHei"/>
              </a:rPr>
              <a:t>让大模型</a:t>
            </a:r>
            <a:r>
              <a:rPr sz="1500" b="0">
                <a:latin typeface="Microsoft YaHei"/>
                <a:ea typeface="Microsoft YaHei"/>
              </a:rPr>
              <a:t>检索</a:t>
            </a:r>
            <a:r>
              <a:rPr lang="zh-CN" altLang="en-US" sz="1500" b="0" dirty="0">
                <a:latin typeface="Microsoft YaHei"/>
                <a:ea typeface="Microsoft YaHei"/>
              </a:rPr>
              <a:t>文献</a:t>
            </a:r>
            <a:r>
              <a:rPr sz="1500" b="0" dirty="0">
                <a:latin typeface="Microsoft YaHei"/>
                <a:ea typeface="Microsoft YaHei"/>
              </a:rPr>
              <a:t>。</a:t>
            </a:r>
            <a:r>
              <a:rPr sz="1500" b="0" dirty="0" err="1">
                <a:latin typeface="Microsoft YaHei"/>
                <a:ea typeface="Microsoft YaHei"/>
              </a:rPr>
              <a:t>结果:随机对支持率</a:t>
            </a:r>
            <a:r>
              <a:rPr sz="1500" b="0" dirty="0">
                <a:latin typeface="Microsoft YaHei"/>
                <a:ea typeface="Microsoft YaHei"/>
              </a:rPr>
              <a:t> 7.2%,远低于 </a:t>
            </a:r>
            <a:r>
              <a:rPr sz="1500" b="0" dirty="0" err="1">
                <a:latin typeface="Microsoft YaHei"/>
                <a:ea typeface="Microsoft YaHei"/>
              </a:rPr>
              <a:t>GraphSAGE</a:t>
            </a:r>
            <a:r>
              <a:rPr sz="1500" b="0" dirty="0">
                <a:latin typeface="Microsoft YaHei"/>
                <a:ea typeface="Microsoft YaHei"/>
              </a:rPr>
              <a:t> top-1000 </a:t>
            </a:r>
            <a:r>
              <a:rPr sz="1500" b="0" dirty="0" err="1">
                <a:latin typeface="Microsoft YaHei"/>
                <a:ea typeface="Microsoft YaHei"/>
              </a:rPr>
              <a:t>的</a:t>
            </a:r>
            <a:r>
              <a:rPr sz="1500" b="0" dirty="0">
                <a:latin typeface="Microsoft YaHei"/>
                <a:ea typeface="Microsoft YaHei"/>
              </a:rPr>
              <a:t> 30.4%——</a:t>
            </a:r>
            <a:r>
              <a:rPr sz="1500" b="0" dirty="0" err="1">
                <a:latin typeface="Microsoft YaHei"/>
                <a:ea typeface="Microsoft YaHei"/>
              </a:rPr>
              <a:t>模型富集度约</a:t>
            </a:r>
            <a:r>
              <a:rPr sz="1500" b="0" dirty="0">
                <a:latin typeface="Microsoft YaHei"/>
                <a:ea typeface="Microsoft YaHei"/>
              </a:rPr>
              <a:t> ×4.2,证明排序确实带有可被文献验证的真实信号。</a:t>
            </a:r>
          </a:p>
        </p:txBody>
      </p:sp>
      <p:pic>
        <p:nvPicPr>
          <p:cNvPr id="6" name="Picture 5" descr="week1_random_vs_top1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00" y="1880000"/>
            <a:ext cx="9773450" cy="43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-12701" y="6300000"/>
            <a:ext cx="11000000" cy="417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buFont typeface="Wingdings"/>
              <a:buChar char="l"/>
            </a:pPr>
            <a:r>
              <a:rPr sz="1800" b="1" dirty="0" err="1">
                <a:latin typeface="Microsoft YaHei"/>
                <a:ea typeface="Microsoft YaHei"/>
              </a:rPr>
              <a:t>下周计划</a:t>
            </a:r>
            <a:r>
              <a:rPr sz="1800" b="0" dirty="0" err="1">
                <a:latin typeface="Microsoft YaHei"/>
                <a:ea typeface="Microsoft YaHei"/>
              </a:rPr>
              <a:t>:细粒度分析每条已有支撑的证据</a:t>
            </a:r>
            <a:endParaRPr sz="1800" b="0" dirty="0">
              <a:latin typeface="Microsoft YaHei"/>
              <a:ea typeface="Microsoft YaHei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417331" y="984174"/>
          <a:ext cx="1568954" cy="1483360"/>
        </p:xfrm>
        <a:graphic>
          <a:graphicData uri="http://schemas.openxmlformats.org/drawingml/2006/table">
            <a:tbl>
              <a:tblPr/>
              <a:tblGrid>
                <a:gridCol w="936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KaiTi"/>
                          <a:ea typeface="KaiTi"/>
                        </a:rPr>
                        <a:t>新任务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KaiTi"/>
                          <a:ea typeface="KaiTi"/>
                        </a:rPr>
                        <a:t>新功能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KaiTi"/>
                          <a:ea typeface="KaiTi"/>
                        </a:rPr>
                        <a:t>新指标</a:t>
                      </a:r>
                    </a:p>
                  </a:txBody>
                  <a:tcPr anchor="ctr">
                    <a:solidFill>
                      <a:srgbClr val="E6D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C00000"/>
                          </a:solidFill>
                          <a:latin typeface="KaiTi"/>
                          <a:ea typeface="KaiTi"/>
                        </a:rPr>
                        <a:t>√</a:t>
                      </a:r>
                    </a:p>
                  </a:txBody>
                  <a:tcPr anchor="ctr">
                    <a:solidFill>
                      <a:srgbClr val="E6D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KaiTi"/>
                          <a:ea typeface="KaiTi"/>
                        </a:rPr>
                        <a:t>新调研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" name="Picture 8" descr="ctd_logo_d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7331" y="470173"/>
            <a:ext cx="409336" cy="409336"/>
          </a:xfrm>
          <a:prstGeom prst="rect">
            <a:avLst/>
          </a:prstGeom>
        </p:spPr>
      </p:pic>
      <p:pic>
        <p:nvPicPr>
          <p:cNvPr id="10" name="Picture 9" descr="ctd_logo_tex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5499" y="544991"/>
            <a:ext cx="900785" cy="2370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1364</Words>
  <Application>Microsoft Macintosh PowerPoint</Application>
  <PresentationFormat>宽屏</PresentationFormat>
  <Paragraphs>286</Paragraphs>
  <Slides>15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等线</vt:lpstr>
      <vt:lpstr>等线 Light</vt:lpstr>
      <vt:lpstr>KaiTi</vt:lpstr>
      <vt:lpstr>Microsoft YaHei</vt:lpstr>
      <vt:lpstr>Noto Sans SC</vt:lpstr>
      <vt:lpstr>Arial</vt:lpstr>
      <vt:lpstr>Calibri</vt:lpstr>
      <vt:lpstr>Calibri Light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boyi zeng</dc:creator>
  <cp:lastModifiedBy>boyi zeng</cp:lastModifiedBy>
  <cp:revision>3</cp:revision>
  <dcterms:created xsi:type="dcterms:W3CDTF">2025-11-26T13:56:12Z</dcterms:created>
  <dcterms:modified xsi:type="dcterms:W3CDTF">2026-06-07T13:28:33Z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name="CWM850df4b0c7ad11f1b3b4e5b933b4e5b9" pid="2" fmtid="{D5CDD505-2E9C-101B-9397-08002B2CF9AE}">
    <vt:lpwstr>CWMiry79zjke+ZSGBWWy30sRRGx9+mbKECkD3EAUvxLKFMvV5Ksgc/GbpwXsR302B/G/Jv7D2QRHmTvlnMHnRKpew==</vt:lpwstr>
  </property>
</Properties>
</file>