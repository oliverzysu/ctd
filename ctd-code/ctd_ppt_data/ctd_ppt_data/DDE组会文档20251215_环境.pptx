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3581" r:id="rId2"/>
    <p:sldId id="2371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JianPi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999B9F"/>
    <a:srgbClr val="F0F0F0"/>
    <a:srgbClr val="E7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56" autoAdjust="0"/>
    <p:restoredTop sz="95385" autoAdjust="0"/>
  </p:normalViewPr>
  <p:slideViewPr>
    <p:cSldViewPr snapToGrid="0">
      <p:cViewPr varScale="1">
        <p:scale>
          <a:sx n="85" d="100"/>
          <a:sy n="85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92A3-4CAC-401D-86E8-D5199A257E6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C47D8-7E8D-4BF7-9522-394B18A62B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9067C-E7B6-4E9A-AEB2-169310A6B6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9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D6BF-5216-5B8D-3513-EEE82539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AD0B24-3DC4-AEBC-9299-6F2E5EC10B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989E3-4613-C798-0A59-359B4D87E7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3C9DCC-E641-2B96-F477-6EA04EA2F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66A0CC-9F44-1C23-8E22-9AD8EF102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4A985-B3AB-05B1-5F64-C889557162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2596-6854-8E80-6D9E-983F8795E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126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7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8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92000"/>
              </a:lnSpc>
              <a:defRPr sz="4300" b="0" i="0" u="none" strike="noStrike" spc="0">
                <a:solidFill>
                  <a:srgbClr val="000000">
                    <a:alpha val="100000"/>
                  </a:srgbClr>
                </a:solidFill>
                <a:latin typeface="Calibri Light" panose="020F0302020204030204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300" b="0" i="0" u="none" strike="noStrike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92000"/>
              </a:lnSpc>
              <a:defRPr sz="27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lvl="0" indent="342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7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</a:p>
          <a:p>
            <a:pPr marL="269875" lvl="1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</a:p>
          <a:p>
            <a:pPr marL="539750" lvl="2" indent="2413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</a:p>
          <a:p>
            <a:pPr marL="810260" lvl="3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</a:p>
          <a:p>
            <a:pPr marL="1080135" lvl="4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10492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BE9C-3F15-4027-9AE7-57992A810EE6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7006E4-F4E0-C147-9427-9F75DA365641}"/>
              </a:ext>
            </a:extLst>
          </p:cNvPr>
          <p:cNvSpPr txBox="1"/>
          <p:nvPr/>
        </p:nvSpPr>
        <p:spPr>
          <a:xfrm>
            <a:off x="1187029" y="3650968"/>
            <a:ext cx="840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ea typeface="Heiti SC Medium" pitchFamily="2" charset="-128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Geology Knowledge Engine for Image, Data and Text</a:t>
            </a:r>
            <a:endParaRPr lang="en-CN" sz="2800" dirty="0">
              <a:solidFill>
                <a:schemeClr val="bg1"/>
              </a:solidFill>
              <a:ea typeface="Heiti SC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8A4CB7-4B2B-4B4A-AE8C-FF4BF03BC1BD}"/>
              </a:ext>
            </a:extLst>
          </p:cNvPr>
          <p:cNvSpPr/>
          <p:nvPr/>
        </p:nvSpPr>
        <p:spPr>
          <a:xfrm>
            <a:off x="-365749" y="1373789"/>
            <a:ext cx="11262346" cy="3413760"/>
          </a:xfrm>
          <a:prstGeom prst="rect">
            <a:avLst/>
          </a:prstGeom>
          <a:solidFill>
            <a:srgbClr val="F49A0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A50787-4A69-474F-BAF4-1110E13C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056" y="1906920"/>
            <a:ext cx="8356030" cy="164852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D2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科学发现案例：</a:t>
            </a:r>
            <a:b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EDE101B-270F-E34F-BACE-B0C7A65BE7AE}"/>
              </a:ext>
            </a:extLst>
          </p:cNvPr>
          <p:cNvGrpSpPr/>
          <p:nvPr/>
        </p:nvGrpSpPr>
        <p:grpSpPr>
          <a:xfrm>
            <a:off x="254360" y="462731"/>
            <a:ext cx="2759773" cy="720018"/>
            <a:chOff x="224380" y="175252"/>
            <a:chExt cx="2759709" cy="720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BEE5F5-FCB7-1042-8C4C-0CECB1233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380" y="175252"/>
              <a:ext cx="720001" cy="7200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0DBFAC-3D31-7E47-A0CF-7F72D2E51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9654" y="306853"/>
              <a:ext cx="1584435" cy="416957"/>
            </a:xfrm>
            <a:prstGeom prst="rect">
              <a:avLst/>
            </a:prstGeom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C4312AA-7D7F-2F46-8B73-68D21954C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27" y="175252"/>
              <a:ext cx="0" cy="7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2601B93B-4649-CA40-A6D2-8FF378D7D429}"/>
              </a:ext>
            </a:extLst>
          </p:cNvPr>
          <p:cNvSpPr/>
          <p:nvPr/>
        </p:nvSpPr>
        <p:spPr>
          <a:xfrm rot="5400000">
            <a:off x="9475917" y="2792282"/>
            <a:ext cx="4934724" cy="2093364"/>
          </a:xfrm>
          <a:custGeom>
            <a:avLst/>
            <a:gdLst>
              <a:gd name="connsiteX0" fmla="*/ 0 w 3944392"/>
              <a:gd name="connsiteY0" fmla="*/ 2168933 h 2168933"/>
              <a:gd name="connsiteX1" fmla="*/ 542233 w 3944392"/>
              <a:gd name="connsiteY1" fmla="*/ 0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3944392"/>
              <a:gd name="connsiteY0" fmla="*/ 2168933 h 2168933"/>
              <a:gd name="connsiteX1" fmla="*/ 1245040 w 3944392"/>
              <a:gd name="connsiteY1" fmla="*/ 113356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4911695"/>
              <a:gd name="connsiteY0" fmla="*/ 2199162 h 2199162"/>
              <a:gd name="connsiteX1" fmla="*/ 1245040 w 4911695"/>
              <a:gd name="connsiteY1" fmla="*/ 143585 h 2199162"/>
              <a:gd name="connsiteX2" fmla="*/ 4911695 w 4911695"/>
              <a:gd name="connsiteY2" fmla="*/ 0 h 2199162"/>
              <a:gd name="connsiteX3" fmla="*/ 3402159 w 4911695"/>
              <a:gd name="connsiteY3" fmla="*/ 2199162 h 2199162"/>
              <a:gd name="connsiteX4" fmla="*/ 0 w 4911695"/>
              <a:gd name="connsiteY4" fmla="*/ 2199162 h 2199162"/>
              <a:gd name="connsiteX0" fmla="*/ 0 w 4919255"/>
              <a:gd name="connsiteY0" fmla="*/ 2093364 h 2093364"/>
              <a:gd name="connsiteX1" fmla="*/ 1245040 w 4919255"/>
              <a:gd name="connsiteY1" fmla="*/ 37787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  <a:gd name="connsiteX0" fmla="*/ 0 w 4919255"/>
              <a:gd name="connsiteY0" fmla="*/ 2093364 h 2093364"/>
              <a:gd name="connsiteX1" fmla="*/ 1671083 w 4919255"/>
              <a:gd name="connsiteY1" fmla="*/ 17909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9255" h="2093364">
                <a:moveTo>
                  <a:pt x="0" y="2093364"/>
                </a:moveTo>
                <a:lnTo>
                  <a:pt x="1671083" y="17909"/>
                </a:lnTo>
                <a:lnTo>
                  <a:pt x="4919255" y="0"/>
                </a:lnTo>
                <a:lnTo>
                  <a:pt x="3402159" y="2093364"/>
                </a:lnTo>
                <a:lnTo>
                  <a:pt x="0" y="2093364"/>
                </a:lnTo>
                <a:close/>
              </a:path>
            </a:pathLst>
          </a:custGeom>
          <a:solidFill>
            <a:srgbClr val="FABB00">
              <a:alpha val="77647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DFC198-68EF-72EA-AD34-24224D23AAC6}"/>
              </a:ext>
            </a:extLst>
          </p:cNvPr>
          <p:cNvSpPr/>
          <p:nvPr/>
        </p:nvSpPr>
        <p:spPr>
          <a:xfrm>
            <a:off x="3943568" y="4965142"/>
            <a:ext cx="2858863" cy="17421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环境</a:t>
            </a:r>
            <a:endParaRPr kumimoji="1" lang="en-US" altLang="zh-CN" b="1" dirty="0"/>
          </a:p>
          <a:p>
            <a:pPr algn="ctr"/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（金梦 郑冠杰）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kumimoji="1" lang="en-US" altLang="zh-CN" dirty="0"/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分子网络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（健平）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污染物疾病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曾博义</a:t>
            </a:r>
            <a:r>
              <a:rPr kumimoji="1" lang="zh-CN" altLang="en-US" sz="1400" dirty="0"/>
              <a:t>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方法生成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（苏梓阳，黄哲睿）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9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F1B2-DC57-676A-0F3C-81E851D4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63CDD3E-B3DF-32AE-F5F0-84002A48248C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BD4BE6-6531-04B3-518B-66081606B22C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DCB5444A-212C-3D1C-8372-29C972820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DAD762C0-C159-F21E-DE65-67E58AC60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F21B7C78-588E-452C-088F-6FCEF9542D24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4495C7E9-CEE4-5911-C5A4-EB76577B3283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7DBE7A6-036C-6A31-93B3-B07237E343DC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9C6C82A-D2F2-C199-A822-19B733C52320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E610EEB-0659-D707-1905-83D7A560B756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F3A950-57CC-676F-4729-9A1E07251921}"/>
              </a:ext>
            </a:extLst>
          </p:cNvPr>
          <p:cNvSpPr/>
          <p:nvPr/>
        </p:nvSpPr>
        <p:spPr>
          <a:xfrm>
            <a:off x="205715" y="995495"/>
            <a:ext cx="8473589" cy="1024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42F902-7A95-B48B-C969-7CDB89050D37}"/>
              </a:ext>
            </a:extLst>
          </p:cNvPr>
          <p:cNvSpPr txBox="1"/>
          <p:nvPr/>
        </p:nvSpPr>
        <p:spPr>
          <a:xfrm>
            <a:off x="187848" y="965335"/>
            <a:ext cx="1007747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上周任务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：增加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CTD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数据集上关系预测的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：将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GCN,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MLP,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GAT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等方法拓展到文献中抽取到的疾病污染物数据集上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350F17-DEF0-ECE8-0E07-FBC349112991}"/>
              </a:ext>
            </a:extLst>
          </p:cNvPr>
          <p:cNvSpPr txBox="1"/>
          <p:nvPr/>
        </p:nvSpPr>
        <p:spPr>
          <a:xfrm>
            <a:off x="-12700" y="6303915"/>
            <a:ext cx="972855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：优化算法，增加相关方法和数据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表格 16">
            <a:extLst>
              <a:ext uri="{FF2B5EF4-FFF2-40B4-BE49-F238E27FC236}">
                <a16:creationId xmlns:a16="http://schemas.microsoft.com/office/drawing/2014/main" id="{A51FA79A-B029-9C63-BB34-8B16B676BA9D}"/>
              </a:ext>
            </a:extLst>
          </p:cNvPr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82079D07-0B6E-B36C-99B6-94694C3EA687}"/>
              </a:ext>
            </a:extLst>
          </p:cNvPr>
          <p:cNvSpPr txBox="1"/>
          <p:nvPr/>
        </p:nvSpPr>
        <p:spPr>
          <a:xfrm>
            <a:off x="121173" y="2168405"/>
            <a:ext cx="95946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对于抽取得到的疾病污染物数据集，以疾病和污染物为节点构建图，构建得到包含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639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种污染物和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94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种疾病的关系图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将之前的方法适配到构建的关系图，构造正负样本进行疾病污染物关系的二分类预测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适配了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GCN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GAT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种方法，计算了这三种方法在文献抽取的疾病污染物数据上的性能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5C1077D-1579-A497-1382-2E35955CC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335359"/>
              </p:ext>
            </p:extLst>
          </p:nvPr>
        </p:nvGraphicFramePr>
        <p:xfrm>
          <a:off x="199760" y="3891801"/>
          <a:ext cx="6447517" cy="197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395">
                  <a:extLst>
                    <a:ext uri="{9D8B030D-6E8A-4147-A177-3AD203B41FA5}">
                      <a16:colId xmlns:a16="http://schemas.microsoft.com/office/drawing/2014/main" val="2128371514"/>
                    </a:ext>
                  </a:extLst>
                </a:gridCol>
                <a:gridCol w="1027613">
                  <a:extLst>
                    <a:ext uri="{9D8B030D-6E8A-4147-A177-3AD203B41FA5}">
                      <a16:colId xmlns:a16="http://schemas.microsoft.com/office/drawing/2014/main" val="2504218399"/>
                    </a:ext>
                  </a:extLst>
                </a:gridCol>
                <a:gridCol w="1289503">
                  <a:extLst>
                    <a:ext uri="{9D8B030D-6E8A-4147-A177-3AD203B41FA5}">
                      <a16:colId xmlns:a16="http://schemas.microsoft.com/office/drawing/2014/main" val="4019741230"/>
                    </a:ext>
                  </a:extLst>
                </a:gridCol>
                <a:gridCol w="1289503">
                  <a:extLst>
                    <a:ext uri="{9D8B030D-6E8A-4147-A177-3AD203B41FA5}">
                      <a16:colId xmlns:a16="http://schemas.microsoft.com/office/drawing/2014/main" val="223924022"/>
                    </a:ext>
                  </a:extLst>
                </a:gridCol>
                <a:gridCol w="1289503">
                  <a:extLst>
                    <a:ext uri="{9D8B030D-6E8A-4147-A177-3AD203B41FA5}">
                      <a16:colId xmlns:a16="http://schemas.microsoft.com/office/drawing/2014/main" val="1244474488"/>
                    </a:ext>
                  </a:extLst>
                </a:gridCol>
              </a:tblGrid>
              <a:tr h="492676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Method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F1</a:t>
                      </a:r>
                      <a:r>
                        <a:rPr lang="en-US" altLang="zh-CN" sz="2000" dirty="0"/>
                        <a:t>-Score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70709"/>
                  </a:ext>
                </a:extLst>
              </a:tr>
              <a:tr h="492676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GCN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0.8</a:t>
                      </a:r>
                      <a:r>
                        <a:rPr lang="en-US" altLang="zh-CN" sz="2000" dirty="0"/>
                        <a:t>342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0.8</a:t>
                      </a:r>
                      <a:r>
                        <a:rPr lang="en-US" altLang="zh-CN" sz="2000" dirty="0"/>
                        <a:t>517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dirty="0"/>
                        <a:t>0.</a:t>
                      </a:r>
                      <a:r>
                        <a:rPr lang="en-US" altLang="zh-CN" sz="2000" dirty="0"/>
                        <a:t>8430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0.9254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74881"/>
                  </a:ext>
                </a:extLst>
              </a:tr>
              <a:tr h="492676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MLP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" altLang="zh-CN" sz="2000" dirty="0"/>
                        <a:t>0.8</a:t>
                      </a:r>
                      <a:r>
                        <a:rPr kumimoji="1" lang="en-US" altLang="zh-CN" sz="2000" dirty="0"/>
                        <a:t>5</a:t>
                      </a:r>
                      <a:r>
                        <a:rPr kumimoji="1" lang="en" altLang="zh-CN" sz="2000" dirty="0"/>
                        <a:t>42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0.8631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0.8587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0.9392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889495"/>
                  </a:ext>
                </a:extLst>
              </a:tr>
              <a:tr h="492676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GAT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dirty="0"/>
                        <a:t>0.8474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0.847</a:t>
                      </a: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" altLang="zh-CN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0.847</a:t>
                      </a: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" altLang="zh-CN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382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262362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9462F805-B728-5D44-98FE-8A4280806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784" y="4236160"/>
            <a:ext cx="5016500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3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106977</TotalTime>
  <Words>223</Words>
  <Application>Microsoft Macintosh PowerPoint</Application>
  <PresentationFormat>宽屏</PresentationFormat>
  <Paragraphs>44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等线</vt:lpstr>
      <vt:lpstr>KaiTi</vt:lpstr>
      <vt:lpstr>微软雅黑</vt:lpstr>
      <vt:lpstr>微软雅黑</vt:lpstr>
      <vt:lpstr>Heiti SC Medium</vt:lpstr>
      <vt:lpstr>Noto Sans SC</vt:lpstr>
      <vt:lpstr>Arial</vt:lpstr>
      <vt:lpstr>Calibri</vt:lpstr>
      <vt:lpstr>Calibri Light</vt:lpstr>
      <vt:lpstr>Wingdings</vt:lpstr>
      <vt:lpstr>Office Theme</vt:lpstr>
      <vt:lpstr>D2 科学发现案例： 环境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Jianping</dc:creator>
  <cp:lastModifiedBy>boyi zeng</cp:lastModifiedBy>
  <cp:revision>393</cp:revision>
  <dcterms:created xsi:type="dcterms:W3CDTF">2023-03-25T09:40:31Z</dcterms:created>
  <dcterms:modified xsi:type="dcterms:W3CDTF">2025-12-21T15:37:18Z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90960556C8214E0CEF62F9636144A168</vt:lpwstr>
  </property>
  <property fmtid="{D5CDD505-2E9C-101B-9397-08002B2CF9AE}" pid="3" name="KSOProductBuildVer">
    <vt:lpwstr>2052-5.2.1.7798</vt:lpwstr>
  </property>
  <property fmtid="{D5CDD505-2E9C-101B-9397-08002B2CF9AE}" pid="4" name="CWM85d47900c7ad11f1b3b4e5b933b4e5b9">
    <vt:lpwstr>CWMiry79zjke+ZSGBWWy30sRRGx9+mbKECkD3EAUvxLKFMvV5Ksgc/GbpwXsR302B/Gmq2041ib4Wxwqc4MxuH14A==</vt:lpwstr>
  </property>
</Properties>
</file>